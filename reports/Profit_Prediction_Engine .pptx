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8" r:id="rId4"/>
    <p:sldId id="269" r:id="rId5"/>
    <p:sldId id="267" r:id="rId6"/>
    <p:sldId id="271" r:id="rId7"/>
    <p:sldId id="270" r:id="rId8"/>
    <p:sldId id="258" r:id="rId9"/>
    <p:sldId id="261" r:id="rId10"/>
    <p:sldId id="259" r:id="rId11"/>
    <p:sldId id="272" r:id="rId12"/>
    <p:sldId id="266" r:id="rId13"/>
    <p:sldId id="264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60"/>
    <a:srgbClr val="FFFF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802" autoAdjust="0"/>
  </p:normalViewPr>
  <p:slideViewPr>
    <p:cSldViewPr snapToGrid="0" snapToObjects="1">
      <p:cViewPr varScale="1">
        <p:scale>
          <a:sx n="90" d="100"/>
          <a:sy n="90" d="100"/>
        </p:scale>
        <p:origin x="123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75E9C6-9F5A-44CE-9DF6-C0D822160AF0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5F51B1-4B8B-49E0-B82D-E0F10FFCD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3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F51B1-4B8B-49E0-B82D-E0F10FFCD95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317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kaggle.com/datasets/vivek468/superstore-dataset-final/data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2D84D5-B092-FE40-2085-60A39E7D8D79}"/>
              </a:ext>
            </a:extLst>
          </p:cNvPr>
          <p:cNvGrpSpPr/>
          <p:nvPr/>
        </p:nvGrpSpPr>
        <p:grpSpPr>
          <a:xfrm>
            <a:off x="0" y="1827928"/>
            <a:ext cx="9144000" cy="3149599"/>
            <a:chOff x="0" y="0"/>
            <a:chExt cx="9144000" cy="582169"/>
          </a:xfrm>
        </p:grpSpPr>
        <p:sp>
          <p:nvSpPr>
            <p:cNvPr id="3" name="Shape 0">
              <a:extLst>
                <a:ext uri="{FF2B5EF4-FFF2-40B4-BE49-F238E27FC236}">
                  <a16:creationId xmlns:a16="http://schemas.microsoft.com/office/drawing/2014/main" id="{75B2E29D-05ED-7E04-079D-6C36ACC9BD31}"/>
                </a:ext>
              </a:extLst>
            </p:cNvPr>
            <p:cNvSpPr/>
            <p:nvPr/>
          </p:nvSpPr>
          <p:spPr>
            <a:xfrm>
              <a:off x="0" y="0"/>
              <a:ext cx="9144000" cy="582169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itle 1">
              <a:extLst>
                <a:ext uri="{FF2B5EF4-FFF2-40B4-BE49-F238E27FC236}">
                  <a16:creationId xmlns:a16="http://schemas.microsoft.com/office/drawing/2014/main" id="{B091D4EB-042E-410A-E2FA-55797D368761}"/>
                </a:ext>
              </a:extLst>
            </p:cNvPr>
            <p:cNvSpPr txBox="1">
              <a:spLocks/>
            </p:cNvSpPr>
            <p:nvPr/>
          </p:nvSpPr>
          <p:spPr>
            <a:xfrm>
              <a:off x="2286000" y="76200"/>
              <a:ext cx="6764865" cy="209516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4000" b="1" dirty="0">
                  <a:solidFill>
                    <a:schemeClr val="bg1"/>
                  </a:solidFill>
                </a:rPr>
                <a:t>Profit Prediction Engine</a:t>
              </a:r>
            </a:p>
          </p:txBody>
        </p:sp>
      </p:grpSp>
      <p:sp>
        <p:nvSpPr>
          <p:cNvPr id="6" name="Subtitle 2"/>
          <p:cNvSpPr txBox="1">
            <a:spLocks/>
          </p:cNvSpPr>
          <p:nvPr/>
        </p:nvSpPr>
        <p:spPr>
          <a:xfrm>
            <a:off x="5088467" y="4086557"/>
            <a:ext cx="3124200" cy="36915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 err="1">
                <a:solidFill>
                  <a:srgbClr val="FFFF00"/>
                </a:solidFill>
              </a:rPr>
              <a:t>Utilizaraa</a:t>
            </a:r>
            <a:r>
              <a:rPr lang="en-US" sz="1100" b="1" dirty="0">
                <a:solidFill>
                  <a:srgbClr val="FFFF00"/>
                </a:solidFill>
              </a:rPr>
              <a:t> Machine Learning (</a:t>
            </a:r>
            <a:r>
              <a:rPr lang="en-US" sz="1100" b="1" dirty="0" err="1">
                <a:solidFill>
                  <a:srgbClr val="FFFF00"/>
                </a:solidFill>
              </a:rPr>
              <a:t>XGBoost</a:t>
            </a:r>
            <a:r>
              <a:rPr lang="en-US" sz="1100" b="1" dirty="0">
                <a:solidFill>
                  <a:srgbClr val="FFFF00"/>
                </a:solidFill>
              </a:rPr>
              <a:t> &amp; MLP) </a:t>
            </a:r>
          </a:p>
          <a:p>
            <a:r>
              <a:rPr lang="en-US" sz="1100" b="1" dirty="0" err="1">
                <a:solidFill>
                  <a:srgbClr val="FFFF00"/>
                </a:solidFill>
              </a:rPr>
              <a:t>pentru</a:t>
            </a:r>
            <a:r>
              <a:rPr lang="en-US" sz="1100" b="1" dirty="0">
                <a:solidFill>
                  <a:srgbClr val="FFFF00"/>
                </a:solidFill>
              </a:rPr>
              <a:t> </a:t>
            </a:r>
            <a:r>
              <a:rPr lang="en-US" sz="1100" b="1" dirty="0" err="1">
                <a:solidFill>
                  <a:srgbClr val="FFFF00"/>
                </a:solidFill>
              </a:rPr>
              <a:t>modelarea</a:t>
            </a:r>
            <a:r>
              <a:rPr lang="en-US" sz="1100" b="1" dirty="0">
                <a:solidFill>
                  <a:srgbClr val="FFFF00"/>
                </a:solidFill>
              </a:rPr>
              <a:t> </a:t>
            </a:r>
            <a:r>
              <a:rPr lang="en-US" sz="1100" b="1" dirty="0" err="1">
                <a:solidFill>
                  <a:srgbClr val="FFFF00"/>
                </a:solidFill>
              </a:rPr>
              <a:t>profitului</a:t>
            </a:r>
            <a:r>
              <a:rPr lang="en-US" sz="1100" b="1" dirty="0">
                <a:solidFill>
                  <a:srgbClr val="FFFF00"/>
                </a:solidFill>
              </a:rPr>
              <a:t> </a:t>
            </a:r>
            <a:r>
              <a:rPr lang="en-US" sz="1100" b="1" dirty="0" err="1">
                <a:solidFill>
                  <a:srgbClr val="FFFF00"/>
                </a:solidFill>
              </a:rPr>
              <a:t>previzionat</a:t>
            </a:r>
            <a:endParaRPr lang="en-US" sz="1100" b="1" dirty="0">
              <a:solidFill>
                <a:srgbClr val="FFFF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7EE5E3-8E0E-1048-07C5-70ADF4DCDC1E}"/>
              </a:ext>
            </a:extLst>
          </p:cNvPr>
          <p:cNvSpPr txBox="1"/>
          <p:nvPr/>
        </p:nvSpPr>
        <p:spPr>
          <a:xfrm>
            <a:off x="2362201" y="3287572"/>
            <a:ext cx="5132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Putem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prezice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profitul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unei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comenzi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de </a:t>
            </a:r>
            <a:r>
              <a:rPr lang="en-US" dirty="0" err="1">
                <a:solidFill>
                  <a:schemeClr val="bg1"/>
                </a:solidFill>
              </a:rPr>
              <a:t>produse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inainte</a:t>
            </a:r>
            <a:r>
              <a:rPr lang="en-US" dirty="0">
                <a:solidFill>
                  <a:schemeClr val="bg1"/>
                </a:solidFill>
              </a:rPr>
              <a:t> ca </a:t>
            </a:r>
            <a:r>
              <a:rPr lang="en-US" dirty="0" err="1">
                <a:solidFill>
                  <a:schemeClr val="bg1"/>
                </a:solidFill>
              </a:rPr>
              <a:t>ea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aiba</a:t>
            </a:r>
            <a:r>
              <a:rPr lang="en-US" dirty="0">
                <a:solidFill>
                  <a:schemeClr val="bg1"/>
                </a:solidFill>
              </a:rPr>
              <a:t> loc?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764ABC-6701-B702-DE51-75DC48490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35" y="2586864"/>
            <a:ext cx="2997978" cy="13987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4000" y="745737"/>
            <a:ext cx="8432800" cy="5773596"/>
          </a:xfrm>
        </p:spPr>
        <p:txBody>
          <a:bodyPr>
            <a:noAutofit/>
          </a:bodyPr>
          <a:lstStyle/>
          <a:p>
            <a:pPr mar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400" dirty="0"/>
              <a:t>➡️ </a:t>
            </a:r>
            <a:r>
              <a:rPr lang="en-US" altLang="en-US" sz="1400" b="1" dirty="0" err="1"/>
              <a:t>Problema</a:t>
            </a:r>
            <a:r>
              <a:rPr lang="en-US" altLang="en-US" sz="1400" b="1" dirty="0"/>
              <a:t>:</a:t>
            </a:r>
            <a:r>
              <a:rPr lang="en-US" altLang="en-US" sz="1400" dirty="0"/>
              <a:t> </a:t>
            </a:r>
            <a:r>
              <a:rPr lang="en-US" altLang="en-US" sz="1400" dirty="0" err="1"/>
              <a:t>Predictia</a:t>
            </a:r>
            <a:r>
              <a:rPr lang="en-US" altLang="en-US" sz="1400" dirty="0"/>
              <a:t> </a:t>
            </a:r>
            <a:r>
              <a:rPr lang="en-US" altLang="en-US" sz="1400" dirty="0" err="1"/>
              <a:t>profitului</a:t>
            </a:r>
            <a:r>
              <a:rPr lang="en-US" altLang="en-US" sz="1400" dirty="0"/>
              <a:t> </a:t>
            </a:r>
            <a:r>
              <a:rPr lang="en-US" altLang="en-US" sz="1400" dirty="0" err="1"/>
              <a:t>este</a:t>
            </a:r>
            <a:r>
              <a:rPr lang="en-US" altLang="en-US" sz="1400" dirty="0"/>
              <a:t> </a:t>
            </a:r>
            <a:r>
              <a:rPr lang="en-US" altLang="en-US" sz="1400" dirty="0" err="1"/>
              <a:t>dificila</a:t>
            </a:r>
            <a:r>
              <a:rPr lang="en-US" altLang="en-US" sz="1400" dirty="0"/>
              <a:t> din </a:t>
            </a:r>
            <a:r>
              <a:rPr lang="en-US" altLang="en-US" sz="1400" dirty="0" err="1"/>
              <a:t>cauza</a:t>
            </a:r>
            <a:r>
              <a:rPr lang="en-US" altLang="en-US" sz="1400" dirty="0"/>
              <a:t> </a:t>
            </a:r>
            <a:r>
              <a:rPr lang="en-US" altLang="en-US" sz="1400" dirty="0" err="1"/>
              <a:t>variatiilor</a:t>
            </a:r>
            <a:r>
              <a:rPr lang="en-US" altLang="en-US" sz="1400" dirty="0"/>
              <a:t> de discount </a:t>
            </a:r>
            <a:r>
              <a:rPr lang="en-US" altLang="en-US" sz="1400" dirty="0" err="1"/>
              <a:t>si</a:t>
            </a:r>
            <a:r>
              <a:rPr lang="en-US" altLang="en-US" sz="1400" dirty="0"/>
              <a:t> </a:t>
            </a:r>
            <a:r>
              <a:rPr lang="en-US" altLang="en-US" sz="1400" dirty="0" err="1"/>
              <a:t>sezonalitate</a:t>
            </a:r>
            <a:endParaRPr lang="en-US" altLang="en-US" sz="1400" dirty="0"/>
          </a:p>
          <a:p>
            <a:pPr mar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400" dirty="0"/>
          </a:p>
          <a:p>
            <a:pPr mar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400" dirty="0"/>
              <a:t>➡️ </a:t>
            </a:r>
            <a:r>
              <a:rPr lang="en-US" altLang="en-US" sz="1400" b="1" dirty="0"/>
              <a:t>Solutia:</a:t>
            </a:r>
            <a:r>
              <a:rPr lang="en-US" altLang="en-US" sz="1400" dirty="0"/>
              <a:t> Un pipeline </a:t>
            </a:r>
            <a:r>
              <a:rPr lang="en-US" altLang="en-US" sz="1400" dirty="0" err="1"/>
              <a:t>bazat</a:t>
            </a:r>
            <a:r>
              <a:rPr lang="en-US" altLang="en-US" sz="1400" dirty="0"/>
              <a:t> pe </a:t>
            </a:r>
            <a:r>
              <a:rPr lang="en-US" altLang="en-US" sz="1400" dirty="0" err="1"/>
              <a:t>comportamentul</a:t>
            </a:r>
            <a:r>
              <a:rPr lang="en-US" altLang="en-US" sz="1400" dirty="0"/>
              <a:t> </a:t>
            </a:r>
            <a:r>
              <a:rPr lang="en-US" altLang="en-US" sz="1400" dirty="0" err="1"/>
              <a:t>clientului</a:t>
            </a:r>
            <a:r>
              <a:rPr lang="en-US" altLang="en-US" sz="1400" dirty="0"/>
              <a:t>,  cu ‘zero-leakage’ (</a:t>
            </a:r>
            <a:r>
              <a:rPr lang="en-US" altLang="en-US" sz="1400" dirty="0" err="1"/>
              <a:t>viitor</a:t>
            </a:r>
            <a:r>
              <a:rPr lang="en-US" altLang="en-US" sz="1400" dirty="0"/>
              <a:t> strict </a:t>
            </a:r>
            <a:r>
              <a:rPr lang="en-US" altLang="en-US" sz="1400" dirty="0" err="1"/>
              <a:t>izolat</a:t>
            </a:r>
            <a:r>
              <a:rPr lang="en-US" altLang="en-US" sz="1400" dirty="0"/>
              <a:t> de </a:t>
            </a:r>
            <a:r>
              <a:rPr lang="en-US" altLang="en-US" sz="1400" dirty="0" err="1"/>
              <a:t>trecut</a:t>
            </a:r>
            <a:r>
              <a:rPr lang="en-US" altLang="en-US" sz="1400" dirty="0"/>
              <a:t>)</a:t>
            </a:r>
          </a:p>
          <a:p>
            <a:pPr mar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400" dirty="0"/>
          </a:p>
          <a:p>
            <a:pPr mar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400" dirty="0"/>
              <a:t>➡️ </a:t>
            </a:r>
            <a:r>
              <a:rPr lang="en-US" altLang="en-US" sz="1400" b="1" dirty="0" err="1"/>
              <a:t>Obiectiv</a:t>
            </a:r>
            <a:r>
              <a:rPr lang="en-US" altLang="en-US" sz="1400" b="1" dirty="0"/>
              <a:t>: </a:t>
            </a:r>
            <a:r>
              <a:rPr lang="en-US" sz="1400" dirty="0" err="1"/>
              <a:t>Modelare</a:t>
            </a:r>
            <a:r>
              <a:rPr lang="en-US" sz="1400" dirty="0"/>
              <a:t> Machine Learning </a:t>
            </a:r>
            <a:r>
              <a:rPr lang="en-US" sz="1400" dirty="0" err="1"/>
              <a:t>pentru</a:t>
            </a:r>
            <a:r>
              <a:rPr lang="en-US" sz="1400" dirty="0"/>
              <a:t> </a:t>
            </a:r>
            <a:r>
              <a:rPr lang="en-US" sz="1400" dirty="0" err="1"/>
              <a:t>prezicerea</a:t>
            </a:r>
            <a:r>
              <a:rPr lang="en-US" sz="1400" dirty="0"/>
              <a:t> </a:t>
            </a:r>
            <a:r>
              <a:rPr lang="en-US" sz="1400" dirty="0" err="1"/>
              <a:t>profitul</a:t>
            </a:r>
            <a:r>
              <a:rPr lang="en-US" sz="1400" dirty="0"/>
              <a:t> </a:t>
            </a:r>
            <a:r>
              <a:rPr lang="en-US" sz="1400" dirty="0" err="1"/>
              <a:t>viitor</a:t>
            </a:r>
            <a:r>
              <a:rPr lang="en-US" sz="1400" dirty="0"/>
              <a:t> al </a:t>
            </a:r>
            <a:r>
              <a:rPr lang="en-US" sz="1400" dirty="0" err="1"/>
              <a:t>unei</a:t>
            </a:r>
            <a:r>
              <a:rPr lang="en-US" sz="1400" dirty="0"/>
              <a:t> </a:t>
            </a:r>
            <a:r>
              <a:rPr lang="en-US" sz="1400" dirty="0" err="1"/>
              <a:t>comenzi</a:t>
            </a:r>
            <a:r>
              <a:rPr lang="en-US" sz="1400" dirty="0"/>
              <a:t>, </a:t>
            </a:r>
            <a:r>
              <a:rPr lang="en-US" sz="1400" dirty="0" err="1"/>
              <a:t>folosind</a:t>
            </a:r>
            <a:r>
              <a:rPr lang="en-US" sz="1400" dirty="0"/>
              <a:t>:</a:t>
            </a:r>
          </a:p>
          <a:p>
            <a:pPr lvl="1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 err="1"/>
              <a:t>istoricul</a:t>
            </a:r>
            <a:r>
              <a:rPr lang="en-US" sz="1400" dirty="0"/>
              <a:t> </a:t>
            </a:r>
            <a:r>
              <a:rPr lang="en-US" sz="1400" dirty="0" err="1"/>
              <a:t>clientului</a:t>
            </a:r>
            <a:endParaRPr lang="en-US" sz="1400" dirty="0"/>
          </a:p>
          <a:p>
            <a:pPr lvl="1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 err="1"/>
              <a:t>tipul</a:t>
            </a:r>
            <a:r>
              <a:rPr lang="en-US" sz="1400" dirty="0"/>
              <a:t> </a:t>
            </a:r>
            <a:r>
              <a:rPr lang="en-US" sz="1400" dirty="0" err="1"/>
              <a:t>produsului</a:t>
            </a:r>
            <a:endParaRPr lang="en-US" sz="1400" dirty="0"/>
          </a:p>
          <a:p>
            <a:pPr lvl="1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discount</a:t>
            </a:r>
          </a:p>
          <a:p>
            <a:pPr lvl="1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 err="1"/>
              <a:t>regiune</a:t>
            </a:r>
            <a:endParaRPr lang="en-US" sz="1400" dirty="0"/>
          </a:p>
          <a:p>
            <a:pPr lvl="1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 err="1"/>
              <a:t>Sezonalitate</a:t>
            </a:r>
            <a:endParaRPr lang="en-US" sz="1400" dirty="0"/>
          </a:p>
          <a:p>
            <a:pPr lvl="1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/>
              <a:t>➡️ </a:t>
            </a:r>
            <a:r>
              <a:rPr lang="en-US" sz="1400" b="1" dirty="0" err="1"/>
              <a:t>Beneficii</a:t>
            </a:r>
            <a:r>
              <a:rPr lang="en-US" sz="1400" b="1" dirty="0"/>
              <a:t>: </a:t>
            </a:r>
            <a:r>
              <a:rPr lang="en-US" sz="1400" dirty="0" err="1"/>
              <a:t>Modelul</a:t>
            </a:r>
            <a:r>
              <a:rPr lang="en-US" sz="1400" dirty="0"/>
              <a:t> </a:t>
            </a:r>
            <a:r>
              <a:rPr lang="en-US" sz="1400" dirty="0" err="1"/>
              <a:t>poate</a:t>
            </a:r>
            <a:r>
              <a:rPr lang="en-US" sz="1400" dirty="0"/>
              <a:t> fi </a:t>
            </a:r>
            <a:r>
              <a:rPr lang="en-US" sz="1400" dirty="0" err="1"/>
              <a:t>folosit</a:t>
            </a:r>
            <a:r>
              <a:rPr lang="en-US" sz="1400" dirty="0"/>
              <a:t> </a:t>
            </a:r>
            <a:r>
              <a:rPr lang="en-US" sz="1400" dirty="0" err="1"/>
              <a:t>pentru</a:t>
            </a:r>
            <a:r>
              <a:rPr lang="en-US" sz="1400" dirty="0"/>
              <a:t>:</a:t>
            </a:r>
          </a:p>
          <a:p>
            <a:pPr lvl="1">
              <a:lnSpc>
                <a:spcPct val="150000"/>
              </a:lnSpc>
            </a:pPr>
            <a:r>
              <a:rPr lang="en-US" sz="1400" dirty="0" err="1"/>
              <a:t>optimizarea</a:t>
            </a:r>
            <a:r>
              <a:rPr lang="en-US" sz="1400" dirty="0"/>
              <a:t> </a:t>
            </a:r>
            <a:r>
              <a:rPr lang="en-US" sz="1400" dirty="0" err="1"/>
              <a:t>preturilor</a:t>
            </a:r>
            <a:endParaRPr lang="en-US" sz="1400" dirty="0"/>
          </a:p>
          <a:p>
            <a:pPr lvl="1">
              <a:lnSpc>
                <a:spcPct val="150000"/>
              </a:lnSpc>
            </a:pPr>
            <a:r>
              <a:rPr lang="en-US" sz="1400" dirty="0" err="1"/>
              <a:t>managementul</a:t>
            </a:r>
            <a:r>
              <a:rPr lang="en-US" sz="1400" dirty="0"/>
              <a:t> </a:t>
            </a:r>
            <a:r>
              <a:rPr lang="en-US" sz="1400" dirty="0" err="1"/>
              <a:t>discounturilor</a:t>
            </a:r>
            <a:endParaRPr lang="en-US" sz="1400" dirty="0"/>
          </a:p>
          <a:p>
            <a:pPr lvl="1">
              <a:lnSpc>
                <a:spcPct val="150000"/>
              </a:lnSpc>
            </a:pPr>
            <a:r>
              <a:rPr lang="en-US" sz="1400" dirty="0" err="1"/>
              <a:t>controlul</a:t>
            </a:r>
            <a:r>
              <a:rPr lang="en-US" sz="1400" dirty="0"/>
              <a:t> </a:t>
            </a:r>
            <a:r>
              <a:rPr lang="en-US" sz="1400" dirty="0" err="1"/>
              <a:t>riscului</a:t>
            </a:r>
            <a:r>
              <a:rPr lang="en-US" sz="1400" dirty="0"/>
              <a:t> </a:t>
            </a:r>
            <a:r>
              <a:rPr lang="en-US" sz="1400" dirty="0" err="1"/>
              <a:t>tranzactiilor</a:t>
            </a:r>
            <a:r>
              <a:rPr lang="en-US" sz="1400" dirty="0"/>
              <a:t>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EDE0E7-729E-95BC-2BBB-91E46AED3B48}"/>
              </a:ext>
            </a:extLst>
          </p:cNvPr>
          <p:cNvGrpSpPr/>
          <p:nvPr/>
        </p:nvGrpSpPr>
        <p:grpSpPr>
          <a:xfrm>
            <a:off x="0" y="1"/>
            <a:ext cx="9144000" cy="659423"/>
            <a:chOff x="0" y="0"/>
            <a:chExt cx="9144000" cy="582169"/>
          </a:xfrm>
        </p:grpSpPr>
        <p:sp>
          <p:nvSpPr>
            <p:cNvPr id="6" name="Shape 0">
              <a:extLst>
                <a:ext uri="{FF2B5EF4-FFF2-40B4-BE49-F238E27FC236}">
                  <a16:creationId xmlns:a16="http://schemas.microsoft.com/office/drawing/2014/main" id="{F0E2B79D-2E4A-A1D9-0853-9ACF92FB9930}"/>
                </a:ext>
              </a:extLst>
            </p:cNvPr>
            <p:cNvSpPr/>
            <p:nvPr/>
          </p:nvSpPr>
          <p:spPr>
            <a:xfrm>
              <a:off x="0" y="0"/>
              <a:ext cx="9144000" cy="582169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itle 1">
              <a:extLst>
                <a:ext uri="{FF2B5EF4-FFF2-40B4-BE49-F238E27FC236}">
                  <a16:creationId xmlns:a16="http://schemas.microsoft.com/office/drawing/2014/main" id="{6693003C-FCA1-E4CB-FE05-EA12C99FC332}"/>
                </a:ext>
              </a:extLst>
            </p:cNvPr>
            <p:cNvSpPr txBox="1">
              <a:spLocks/>
            </p:cNvSpPr>
            <p:nvPr/>
          </p:nvSpPr>
          <p:spPr>
            <a:xfrm>
              <a:off x="254000" y="76200"/>
              <a:ext cx="8796866" cy="42760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n-US" sz="4000" b="1" dirty="0" err="1">
                  <a:solidFill>
                    <a:schemeClr val="bg1"/>
                  </a:solidFill>
                </a:rPr>
                <a:t>Obiectivele</a:t>
              </a:r>
              <a:r>
                <a:rPr lang="en-US" sz="4000" b="1" dirty="0">
                  <a:solidFill>
                    <a:schemeClr val="bg1"/>
                  </a:solidFill>
                </a:rPr>
                <a:t> </a:t>
              </a:r>
              <a:r>
                <a:rPr lang="en-US" sz="4000" b="1" dirty="0" err="1">
                  <a:solidFill>
                    <a:schemeClr val="bg1"/>
                  </a:solidFill>
                </a:rPr>
                <a:t>Proiectului</a:t>
              </a:r>
              <a:endParaRPr lang="en-US" sz="4000" b="1" dirty="0">
                <a:solidFill>
                  <a:schemeClr val="bg1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A4370-BDB7-C3BB-6439-A39B19416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0" y="1066800"/>
            <a:ext cx="8432800" cy="36914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➡️ Dataset </a:t>
            </a:r>
          </a:p>
          <a:p>
            <a:pPr marL="0" indent="0">
              <a:buNone/>
            </a:pPr>
            <a:r>
              <a:rPr lang="en-US" sz="1400" dirty="0"/>
              <a:t>	- </a:t>
            </a:r>
            <a:r>
              <a:rPr lang="en-US" sz="1400" dirty="0" err="1"/>
              <a:t>sursa</a:t>
            </a:r>
            <a:r>
              <a:rPr lang="en-US" sz="1400" dirty="0"/>
              <a:t>: ‘superstore dataset’, kaggle.com </a:t>
            </a:r>
          </a:p>
          <a:p>
            <a:pPr marL="0" indent="0">
              <a:buNone/>
            </a:pPr>
            <a:r>
              <a:rPr lang="en-US" sz="1400" dirty="0"/>
              <a:t>	   </a:t>
            </a:r>
            <a:r>
              <a:rPr lang="en-US" sz="1000" dirty="0">
                <a:hlinkClick r:id="rId2"/>
              </a:rPr>
              <a:t>https://www.kaggle.com/datasets/vivek468/superstore-dataset-final/data</a:t>
            </a:r>
            <a:endParaRPr lang="en-US" sz="1000" dirty="0"/>
          </a:p>
          <a:p>
            <a:pPr marL="0" indent="0">
              <a:buNone/>
            </a:pPr>
            <a:r>
              <a:rPr lang="en-US" sz="1400" dirty="0"/>
              <a:t>	- </a:t>
            </a:r>
            <a:r>
              <a:rPr lang="en-US" sz="1400" dirty="0" err="1"/>
              <a:t>randuri</a:t>
            </a:r>
            <a:r>
              <a:rPr lang="en-US" sz="1400" dirty="0"/>
              <a:t>, </a:t>
            </a:r>
            <a:r>
              <a:rPr lang="en-US" sz="1400" dirty="0" err="1"/>
              <a:t>coloane</a:t>
            </a:r>
            <a:r>
              <a:rPr lang="en-US" sz="1400" dirty="0"/>
              <a:t>: (9994, 21),</a:t>
            </a:r>
          </a:p>
          <a:p>
            <a:pPr marL="0" indent="0">
              <a:buNone/>
            </a:pPr>
            <a:r>
              <a:rPr lang="en-US" sz="1400" dirty="0"/>
              <a:t>	- </a:t>
            </a:r>
            <a:r>
              <a:rPr lang="en-US" sz="1400" dirty="0" err="1"/>
              <a:t>order_id</a:t>
            </a:r>
            <a:r>
              <a:rPr lang="en-US" sz="1400" dirty="0"/>
              <a:t> </a:t>
            </a:r>
            <a:r>
              <a:rPr lang="en-US" sz="1400" dirty="0" err="1"/>
              <a:t>unice</a:t>
            </a:r>
            <a:r>
              <a:rPr lang="en-US" sz="1400" dirty="0"/>
              <a:t>: 5009</a:t>
            </a:r>
          </a:p>
          <a:p>
            <a:pPr marL="0" indent="0">
              <a:buNone/>
            </a:pPr>
            <a:r>
              <a:rPr lang="en-US" sz="1400" dirty="0"/>
              <a:t>	- </a:t>
            </a:r>
            <a:r>
              <a:rPr lang="en-US" sz="1400" dirty="0" err="1"/>
              <a:t>celule</a:t>
            </a:r>
            <a:r>
              <a:rPr lang="en-US" sz="1400" dirty="0"/>
              <a:t> cu </a:t>
            </a:r>
            <a:r>
              <a:rPr lang="en-US" sz="1400" dirty="0" err="1"/>
              <a:t>valori</a:t>
            </a:r>
            <a:r>
              <a:rPr lang="en-US" sz="1400" dirty="0"/>
              <a:t> </a:t>
            </a:r>
            <a:r>
              <a:rPr lang="en-US" sz="1400" dirty="0" err="1"/>
              <a:t>nule</a:t>
            </a:r>
            <a:r>
              <a:rPr lang="en-US" sz="1400" dirty="0"/>
              <a:t>: 0</a:t>
            </a:r>
          </a:p>
          <a:p>
            <a:pPr marL="0" indent="0">
              <a:buNone/>
            </a:pPr>
            <a:r>
              <a:rPr lang="en-US" sz="1400" dirty="0"/>
              <a:t>	- </a:t>
            </a:r>
            <a:r>
              <a:rPr lang="en-US" sz="1400" dirty="0" err="1"/>
              <a:t>fiecare</a:t>
            </a:r>
            <a:r>
              <a:rPr lang="en-US" sz="1400" dirty="0"/>
              <a:t> </a:t>
            </a:r>
            <a:r>
              <a:rPr lang="en-US" sz="1400" dirty="0" err="1"/>
              <a:t>customer_id</a:t>
            </a:r>
            <a:r>
              <a:rPr lang="en-US" sz="1400" dirty="0"/>
              <a:t>  are  un  </a:t>
            </a:r>
            <a:r>
              <a:rPr lang="en-US" sz="1400" dirty="0" err="1"/>
              <a:t>customer_name</a:t>
            </a:r>
            <a:r>
              <a:rPr lang="en-US" sz="1400" dirty="0"/>
              <a:t> </a:t>
            </a:r>
            <a:r>
              <a:rPr lang="en-US" sz="1400" dirty="0" err="1"/>
              <a:t>unic</a:t>
            </a:r>
            <a:endParaRPr lang="en-US" sz="14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A05659C-16E4-C6E5-0F06-C1CAAA5C68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32" y="3429000"/>
            <a:ext cx="8123768" cy="518726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3052B0E-B791-2894-C29E-74E26214D100}"/>
              </a:ext>
            </a:extLst>
          </p:cNvPr>
          <p:cNvGrpSpPr/>
          <p:nvPr/>
        </p:nvGrpSpPr>
        <p:grpSpPr>
          <a:xfrm>
            <a:off x="0" y="0"/>
            <a:ext cx="9144000" cy="608061"/>
            <a:chOff x="0" y="0"/>
            <a:chExt cx="9144000" cy="658368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603785FB-AB8D-4AB6-6EA3-06C33115DBBC}"/>
                </a:ext>
              </a:extLst>
            </p:cNvPr>
            <p:cNvSpPr/>
            <p:nvPr/>
          </p:nvSpPr>
          <p:spPr>
            <a:xfrm>
              <a:off x="0" y="0"/>
              <a:ext cx="9144000" cy="658368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440B9B0E-9E76-CAFB-A23C-1DEA64F005C5}"/>
                </a:ext>
              </a:extLst>
            </p:cNvPr>
            <p:cNvSpPr txBox="1">
              <a:spLocks/>
            </p:cNvSpPr>
            <p:nvPr/>
          </p:nvSpPr>
          <p:spPr>
            <a:xfrm>
              <a:off x="254000" y="76200"/>
              <a:ext cx="8796866" cy="449165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n-US" sz="4000" b="1" dirty="0" err="1">
                  <a:solidFill>
                    <a:schemeClr val="bg1"/>
                  </a:solidFill>
                </a:rPr>
                <a:t>Datasetul</a:t>
              </a:r>
              <a:r>
                <a:rPr lang="en-US" sz="4000" b="1" dirty="0">
                  <a:solidFill>
                    <a:schemeClr val="bg1"/>
                  </a:solidFill>
                </a:rPr>
                <a:t> </a:t>
              </a:r>
              <a:r>
                <a:rPr lang="en-US" sz="4000" b="1" dirty="0" err="1">
                  <a:solidFill>
                    <a:schemeClr val="bg1"/>
                  </a:solidFill>
                </a:rPr>
                <a:t>utilizat</a:t>
              </a:r>
              <a:endParaRPr lang="en-US" sz="4000" b="1" dirty="0">
                <a:solidFill>
                  <a:schemeClr val="bg1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78990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70455-61B7-7817-4A4F-280BA618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397ECF90-9479-84B5-3899-E6DF4FDFD0AF}"/>
              </a:ext>
            </a:extLst>
          </p:cNvPr>
          <p:cNvSpPr txBox="1"/>
          <p:nvPr/>
        </p:nvSpPr>
        <p:spPr>
          <a:xfrm>
            <a:off x="254000" y="1434801"/>
            <a:ext cx="8288867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/>
              <a:t>➡️ </a:t>
            </a:r>
            <a:r>
              <a:rPr lang="en-US" sz="1600" b="1" dirty="0"/>
              <a:t>Pre-</a:t>
            </a:r>
            <a:r>
              <a:rPr lang="en-US" sz="1600" b="1" dirty="0" err="1"/>
              <a:t>procesari</a:t>
            </a:r>
            <a:r>
              <a:rPr lang="en-US" sz="1600" b="1" dirty="0"/>
              <a:t> </a:t>
            </a:r>
            <a:r>
              <a:rPr lang="en-US" sz="1600" b="1" dirty="0" err="1"/>
              <a:t>efectuate</a:t>
            </a:r>
            <a:r>
              <a:rPr lang="en-US" sz="1600" dirty="0"/>
              <a:t>:</a:t>
            </a:r>
          </a:p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sz="1400" dirty="0"/>
              <a:t>- </a:t>
            </a:r>
            <a:r>
              <a:rPr lang="en-US" sz="1400" b="1" dirty="0" err="1"/>
              <a:t>numele</a:t>
            </a:r>
            <a:r>
              <a:rPr lang="en-US" sz="1400" b="1" dirty="0"/>
              <a:t> </a:t>
            </a:r>
            <a:r>
              <a:rPr lang="en-US" sz="1400" b="1" dirty="0" err="1"/>
              <a:t>atributelor</a:t>
            </a:r>
            <a:r>
              <a:rPr lang="en-US" sz="1400" b="1" dirty="0"/>
              <a:t> </a:t>
            </a:r>
            <a:r>
              <a:rPr lang="en-US" sz="1400" dirty="0" err="1"/>
              <a:t>rescrise</a:t>
            </a:r>
            <a:r>
              <a:rPr lang="en-US" sz="1400" dirty="0"/>
              <a:t> </a:t>
            </a:r>
            <a:r>
              <a:rPr lang="en-US" sz="1400" dirty="0" err="1"/>
              <a:t>fara</a:t>
            </a:r>
            <a:r>
              <a:rPr lang="en-US" sz="1400" dirty="0"/>
              <a:t> </a:t>
            </a:r>
            <a:r>
              <a:rPr lang="en-US" sz="1400" dirty="0" err="1"/>
              <a:t>spatii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	- </a:t>
            </a:r>
            <a:r>
              <a:rPr lang="en-US" sz="1400" dirty="0" err="1"/>
              <a:t>coloana</a:t>
            </a:r>
            <a:r>
              <a:rPr lang="en-US" sz="1400" dirty="0"/>
              <a:t> </a:t>
            </a:r>
            <a:r>
              <a:rPr lang="en-US" sz="1400" b="1" dirty="0"/>
              <a:t>‘</a:t>
            </a:r>
            <a:r>
              <a:rPr lang="en-US" sz="1400" b="1" dirty="0" err="1"/>
              <a:t>customer_name</a:t>
            </a:r>
            <a:r>
              <a:rPr lang="en-US" sz="1400" b="1" dirty="0"/>
              <a:t>’ </a:t>
            </a:r>
            <a:r>
              <a:rPr lang="en-US" sz="1400" b="1" dirty="0" err="1"/>
              <a:t>eliminata</a:t>
            </a:r>
            <a:r>
              <a:rPr lang="en-US" sz="1400" b="1" dirty="0"/>
              <a:t> </a:t>
            </a:r>
            <a:r>
              <a:rPr lang="en-US" sz="1400" dirty="0" err="1"/>
              <a:t>fiind</a:t>
            </a:r>
            <a:r>
              <a:rPr lang="en-US" sz="1400" dirty="0"/>
              <a:t> </a:t>
            </a:r>
            <a:r>
              <a:rPr lang="en-US" sz="1400" dirty="0" err="1"/>
              <a:t>redundanta</a:t>
            </a:r>
            <a:r>
              <a:rPr lang="en-US" sz="1400" dirty="0"/>
              <a:t>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	- </a:t>
            </a:r>
            <a:r>
              <a:rPr lang="en-US" sz="1400" dirty="0" err="1"/>
              <a:t>coloana</a:t>
            </a:r>
            <a:r>
              <a:rPr lang="en-US" sz="1400" dirty="0"/>
              <a:t> </a:t>
            </a:r>
            <a:r>
              <a:rPr lang="en-US" sz="1400" b="1" dirty="0"/>
              <a:t>‘country’ </a:t>
            </a:r>
            <a:r>
              <a:rPr lang="en-US" sz="1400" b="1" dirty="0" err="1"/>
              <a:t>elminata</a:t>
            </a:r>
            <a:r>
              <a:rPr lang="en-US" sz="1400" b="1" dirty="0"/>
              <a:t> </a:t>
            </a:r>
            <a:r>
              <a:rPr lang="en-US" sz="1400" dirty="0" err="1"/>
              <a:t>avand</a:t>
            </a:r>
            <a:r>
              <a:rPr lang="en-US" sz="1400" dirty="0"/>
              <a:t> </a:t>
            </a:r>
            <a:r>
              <a:rPr lang="en-US" sz="1400" dirty="0" err="1"/>
              <a:t>valoare</a:t>
            </a:r>
            <a:r>
              <a:rPr lang="en-US" sz="1400" dirty="0"/>
              <a:t> unica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	</a:t>
            </a:r>
            <a:r>
              <a:rPr lang="en-US" sz="1400" b="1" dirty="0"/>
              <a:t>- 7 </a:t>
            </a:r>
            <a:r>
              <a:rPr lang="en-US" sz="1400" b="1" dirty="0" err="1"/>
              <a:t>coloane</a:t>
            </a:r>
            <a:r>
              <a:rPr lang="en-US" sz="1400" b="1" dirty="0"/>
              <a:t> </a:t>
            </a:r>
            <a:r>
              <a:rPr lang="en-US" sz="1400" b="1" dirty="0" err="1"/>
              <a:t>noi</a:t>
            </a:r>
            <a:r>
              <a:rPr lang="en-US" sz="1400" b="1" dirty="0"/>
              <a:t> </a:t>
            </a:r>
            <a:r>
              <a:rPr lang="en-US" sz="1400" dirty="0"/>
              <a:t>: an, luna zi, delay: derivate din ‘</a:t>
            </a:r>
            <a:r>
              <a:rPr lang="en-US" sz="1400" dirty="0" err="1"/>
              <a:t>order_date</a:t>
            </a:r>
            <a:r>
              <a:rPr lang="en-US" sz="1400" dirty="0"/>
              <a:t>_, ‘</a:t>
            </a:r>
            <a:r>
              <a:rPr lang="en-US" sz="1400" dirty="0" err="1"/>
              <a:t>shipment_date</a:t>
            </a:r>
            <a:r>
              <a:rPr lang="en-US" sz="1400" dirty="0"/>
              <a:t>’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	</a:t>
            </a:r>
            <a:r>
              <a:rPr lang="en-US" sz="1400" b="1" dirty="0"/>
              <a:t>- 2 </a:t>
            </a:r>
            <a:r>
              <a:rPr lang="en-US" sz="1400" b="1" dirty="0" err="1"/>
              <a:t>coloane</a:t>
            </a:r>
            <a:r>
              <a:rPr lang="en-US" sz="1400" b="1" dirty="0"/>
              <a:t> </a:t>
            </a:r>
            <a:r>
              <a:rPr lang="en-US" sz="1400" b="1" dirty="0" err="1"/>
              <a:t>noi</a:t>
            </a:r>
            <a:r>
              <a:rPr lang="en-US" sz="1400" b="1" dirty="0"/>
              <a:t> </a:t>
            </a:r>
            <a:r>
              <a:rPr lang="en-US" sz="1400" dirty="0"/>
              <a:t>: </a:t>
            </a:r>
            <a:r>
              <a:rPr lang="en-US" sz="1400" dirty="0" err="1"/>
              <a:t>profit_per_unit</a:t>
            </a:r>
            <a:r>
              <a:rPr lang="en-US" sz="1400" dirty="0"/>
              <a:t>, </a:t>
            </a:r>
            <a:r>
              <a:rPr lang="en-US" sz="1400" dirty="0" err="1"/>
              <a:t>sales_per_unit</a:t>
            </a:r>
            <a:r>
              <a:rPr lang="en-US" sz="1400" dirty="0"/>
              <a:t>: </a:t>
            </a:r>
            <a:r>
              <a:rPr lang="en-US" sz="1400" dirty="0" err="1"/>
              <a:t>raportul</a:t>
            </a:r>
            <a:r>
              <a:rPr lang="en-US" sz="1400" dirty="0"/>
              <a:t> </a:t>
            </a:r>
            <a:r>
              <a:rPr lang="en-US" sz="1400" dirty="0" err="1"/>
              <a:t>dintre</a:t>
            </a:r>
            <a:r>
              <a:rPr lang="en-US" sz="1400" dirty="0"/>
              <a:t> ‘profit’, </a:t>
            </a:r>
            <a:r>
              <a:rPr lang="en-US" sz="1400" dirty="0" err="1"/>
              <a:t>respectiv</a:t>
            </a:r>
            <a:r>
              <a:rPr lang="en-US" sz="1400" dirty="0"/>
              <a:t> ‘sales’ </a:t>
            </a:r>
            <a:r>
              <a:rPr lang="en-US" sz="1400" dirty="0" err="1"/>
              <a:t>si</a:t>
            </a:r>
            <a:r>
              <a:rPr lang="en-US" sz="1400" dirty="0"/>
              <a:t> ‘quantity’</a:t>
            </a:r>
          </a:p>
          <a:p>
            <a:endParaRPr lang="en-US" sz="16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FD4A813-6F06-00BE-5058-FE2FD82B09DF}"/>
              </a:ext>
            </a:extLst>
          </p:cNvPr>
          <p:cNvGrpSpPr/>
          <p:nvPr/>
        </p:nvGrpSpPr>
        <p:grpSpPr>
          <a:xfrm>
            <a:off x="0" y="0"/>
            <a:ext cx="9144000" cy="685802"/>
            <a:chOff x="0" y="0"/>
            <a:chExt cx="9144000" cy="658368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122D150E-7F8A-A6E6-4BFE-B2AF3C29BE3A}"/>
                </a:ext>
              </a:extLst>
            </p:cNvPr>
            <p:cNvSpPr/>
            <p:nvPr/>
          </p:nvSpPr>
          <p:spPr>
            <a:xfrm>
              <a:off x="0" y="0"/>
              <a:ext cx="9144000" cy="658368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itle 1">
              <a:extLst>
                <a:ext uri="{FF2B5EF4-FFF2-40B4-BE49-F238E27FC236}">
                  <a16:creationId xmlns:a16="http://schemas.microsoft.com/office/drawing/2014/main" id="{BD8C8E86-E764-03DE-8CED-940D9B6975EC}"/>
                </a:ext>
              </a:extLst>
            </p:cNvPr>
            <p:cNvSpPr txBox="1">
              <a:spLocks/>
            </p:cNvSpPr>
            <p:nvPr/>
          </p:nvSpPr>
          <p:spPr>
            <a:xfrm>
              <a:off x="254000" y="76200"/>
              <a:ext cx="8796866" cy="516332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n-US" sz="4000" b="1" dirty="0">
                  <a:solidFill>
                    <a:schemeClr val="bg1"/>
                  </a:solidFill>
                </a:rPr>
                <a:t>Pre-</a:t>
              </a:r>
              <a:r>
                <a:rPr lang="en-US" sz="4000" b="1" dirty="0" err="1">
                  <a:solidFill>
                    <a:schemeClr val="bg1"/>
                  </a:solidFill>
                </a:rPr>
                <a:t>procesarea</a:t>
              </a:r>
              <a:r>
                <a:rPr lang="en-US" sz="4000" b="1" dirty="0">
                  <a:solidFill>
                    <a:schemeClr val="bg1"/>
                  </a:solidFill>
                </a:rPr>
                <a:t> </a:t>
              </a:r>
              <a:r>
                <a:rPr lang="en-US" sz="4000" b="1" dirty="0" err="1">
                  <a:solidFill>
                    <a:schemeClr val="bg1"/>
                  </a:solidFill>
                </a:rPr>
                <a:t>datelor</a:t>
              </a:r>
              <a:endParaRPr lang="en-US" sz="4000" b="1" dirty="0">
                <a:solidFill>
                  <a:schemeClr val="bg1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86379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46B68BC7-763E-373B-4F85-0DBB89F9EE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551" y="1278046"/>
            <a:ext cx="8682898" cy="3303189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19D314E-620E-1CA8-8DC6-7871518117E3}"/>
              </a:ext>
            </a:extLst>
          </p:cNvPr>
          <p:cNvGrpSpPr/>
          <p:nvPr/>
        </p:nvGrpSpPr>
        <p:grpSpPr>
          <a:xfrm>
            <a:off x="0" y="1"/>
            <a:ext cx="9144000" cy="642804"/>
            <a:chOff x="0" y="0"/>
            <a:chExt cx="9144000" cy="658368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72A2D606-7663-4CB6-0BD0-6FF39BCBC0C9}"/>
                </a:ext>
              </a:extLst>
            </p:cNvPr>
            <p:cNvSpPr/>
            <p:nvPr/>
          </p:nvSpPr>
          <p:spPr>
            <a:xfrm>
              <a:off x="0" y="0"/>
              <a:ext cx="9144000" cy="658368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68E80AEC-F7F9-9E1D-9D2B-F38A3667CF0E}"/>
                </a:ext>
              </a:extLst>
            </p:cNvPr>
            <p:cNvSpPr txBox="1">
              <a:spLocks/>
            </p:cNvSpPr>
            <p:nvPr/>
          </p:nvSpPr>
          <p:spPr>
            <a:xfrm>
              <a:off x="254000" y="76200"/>
              <a:ext cx="8796866" cy="491804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n-US" sz="4000" b="1" dirty="0">
                  <a:solidFill>
                    <a:schemeClr val="bg1"/>
                  </a:solidFill>
                </a:rPr>
                <a:t>EDA -</a:t>
              </a:r>
              <a:r>
                <a:rPr lang="en-US" sz="4000" b="1" dirty="0" err="1">
                  <a:solidFill>
                    <a:schemeClr val="bg1"/>
                  </a:solidFill>
                </a:rPr>
                <a:t>Exporatory</a:t>
              </a:r>
              <a:r>
                <a:rPr lang="en-US" sz="4000" b="1" dirty="0">
                  <a:solidFill>
                    <a:schemeClr val="bg1"/>
                  </a:solidFill>
                </a:rPr>
                <a:t> Data Analysis (1)</a:t>
              </a:r>
              <a:endParaRPr lang="en-US" sz="4000" b="1" dirty="0">
                <a:solidFill>
                  <a:schemeClr val="bg1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9327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117A2-5D20-6E0D-0678-9EDA66E3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9BCD1C9-4876-8400-39FD-B313EF9B8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9719"/>
            <a:ext cx="8978449" cy="2773362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F139B3EE-3378-A293-B40E-90867E8B1058}"/>
              </a:ext>
            </a:extLst>
          </p:cNvPr>
          <p:cNvGrpSpPr/>
          <p:nvPr/>
        </p:nvGrpSpPr>
        <p:grpSpPr>
          <a:xfrm>
            <a:off x="0" y="1"/>
            <a:ext cx="9144000" cy="642804"/>
            <a:chOff x="0" y="0"/>
            <a:chExt cx="9144000" cy="658368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8EA995FF-39C4-CC52-D982-B42D1577EFF9}"/>
                </a:ext>
              </a:extLst>
            </p:cNvPr>
            <p:cNvSpPr/>
            <p:nvPr/>
          </p:nvSpPr>
          <p:spPr>
            <a:xfrm>
              <a:off x="0" y="0"/>
              <a:ext cx="9144000" cy="658368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itle 1">
              <a:extLst>
                <a:ext uri="{FF2B5EF4-FFF2-40B4-BE49-F238E27FC236}">
                  <a16:creationId xmlns:a16="http://schemas.microsoft.com/office/drawing/2014/main" id="{7CEA8F6C-E5D7-9CA9-EC02-BC42C1E484A0}"/>
                </a:ext>
              </a:extLst>
            </p:cNvPr>
            <p:cNvSpPr txBox="1">
              <a:spLocks/>
            </p:cNvSpPr>
            <p:nvPr/>
          </p:nvSpPr>
          <p:spPr>
            <a:xfrm>
              <a:off x="254000" y="76200"/>
              <a:ext cx="8796866" cy="491804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n-US" sz="4000" b="1" dirty="0">
                  <a:solidFill>
                    <a:schemeClr val="bg1"/>
                  </a:solidFill>
                </a:rPr>
                <a:t>EDA -</a:t>
              </a:r>
              <a:r>
                <a:rPr lang="en-US" sz="4000" b="1" dirty="0" err="1">
                  <a:solidFill>
                    <a:schemeClr val="bg1"/>
                  </a:solidFill>
                </a:rPr>
                <a:t>Exporatory</a:t>
              </a:r>
              <a:r>
                <a:rPr lang="en-US" sz="4000" b="1" dirty="0">
                  <a:solidFill>
                    <a:schemeClr val="bg1"/>
                  </a:solidFill>
                </a:rPr>
                <a:t> Data Analysis (2)</a:t>
              </a:r>
              <a:endParaRPr lang="en-US" sz="4000" b="1" dirty="0">
                <a:solidFill>
                  <a:schemeClr val="bg1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29696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17414DB-BC4C-A7EF-58B5-0DF16637170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0983" y="5154553"/>
            <a:ext cx="450041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➡️ </a:t>
            </a:r>
            <a:r>
              <a:rPr lang="en-US" sz="1000" b="1" dirty="0"/>
              <a:t>337 de </a:t>
            </a:r>
            <a:r>
              <a:rPr lang="en-US" sz="1000" b="1" dirty="0" err="1"/>
              <a:t>product_name</a:t>
            </a:r>
            <a:r>
              <a:rPr lang="en-US" sz="1000" b="1" dirty="0"/>
              <a:t> </a:t>
            </a:r>
            <a:r>
              <a:rPr lang="en-US" sz="1000" b="1" dirty="0" err="1"/>
              <a:t>diferite</a:t>
            </a:r>
            <a:r>
              <a:rPr lang="en-US" sz="1000" b="1" dirty="0"/>
              <a:t> </a:t>
            </a:r>
            <a:r>
              <a:rPr lang="en-US" sz="1000" b="1" dirty="0" err="1"/>
              <a:t>pentru</a:t>
            </a:r>
            <a:r>
              <a:rPr lang="en-US" sz="1000" b="1" dirty="0"/>
              <a:t> 32 de </a:t>
            </a:r>
            <a:r>
              <a:rPr lang="en-US" sz="1000" b="1" dirty="0" err="1"/>
              <a:t>product_id</a:t>
            </a:r>
            <a:r>
              <a:rPr lang="en-US" sz="1000" dirty="0"/>
              <a:t>: (EDA)</a:t>
            </a:r>
          </a:p>
          <a:p>
            <a:endParaRPr lang="en-US" sz="1000" dirty="0"/>
          </a:p>
          <a:p>
            <a:r>
              <a:rPr lang="en-US" sz="1000" dirty="0"/>
              <a:t> index          </a:t>
            </a:r>
            <a:r>
              <a:rPr lang="en-US" sz="1000" dirty="0" err="1"/>
              <a:t>product_id</a:t>
            </a:r>
            <a:r>
              <a:rPr lang="en-US" sz="1000" dirty="0"/>
              <a:t>                                       </a:t>
            </a:r>
            <a:r>
              <a:rPr lang="en-US" sz="1000" dirty="0" err="1"/>
              <a:t>product_name</a:t>
            </a:r>
            <a:endParaRPr lang="en-US" sz="1000" dirty="0"/>
          </a:p>
          <a:p>
            <a:r>
              <a:rPr lang="en-US" sz="1000" dirty="0"/>
              <a:t>2471  FUR-BO-10002213   Sauder Forest Hills Library, Woodland Oak Finish</a:t>
            </a:r>
          </a:p>
          <a:p>
            <a:r>
              <a:rPr lang="en-US" sz="1000" dirty="0"/>
              <a:t>2115  FUR-BO-10002213              DMI Eclipse Executive Suite Bookcases</a:t>
            </a:r>
          </a:p>
          <a:p>
            <a:r>
              <a:rPr lang="en-US" sz="1000" dirty="0"/>
              <a:t>...               ...                                                ...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1AED43-A8B6-4F79-6130-D2CF7783CA53}"/>
              </a:ext>
            </a:extLst>
          </p:cNvPr>
          <p:cNvSpPr txBox="1"/>
          <p:nvPr/>
        </p:nvSpPr>
        <p:spPr>
          <a:xfrm>
            <a:off x="5004183" y="5154553"/>
            <a:ext cx="406823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➡️ </a:t>
            </a:r>
            <a:r>
              <a:rPr lang="en-US" sz="1000" b="1" dirty="0"/>
              <a:t>314 de </a:t>
            </a:r>
            <a:r>
              <a:rPr lang="en-US" sz="1000" b="1" dirty="0" err="1"/>
              <a:t>product_id</a:t>
            </a:r>
            <a:r>
              <a:rPr lang="en-US" sz="1000" b="1" dirty="0"/>
              <a:t> </a:t>
            </a:r>
            <a:r>
              <a:rPr lang="en-US" sz="1000" b="1" dirty="0" err="1"/>
              <a:t>diferite</a:t>
            </a:r>
            <a:r>
              <a:rPr lang="en-US" sz="1000" b="1" dirty="0"/>
              <a:t> </a:t>
            </a:r>
            <a:r>
              <a:rPr lang="en-US" sz="1000" b="1" dirty="0" err="1"/>
              <a:t>pentru</a:t>
            </a:r>
            <a:r>
              <a:rPr lang="en-US" sz="1000" b="1" dirty="0"/>
              <a:t> </a:t>
            </a:r>
            <a:r>
              <a:rPr lang="en-US" sz="1000" b="1" dirty="0" err="1"/>
              <a:t>cele</a:t>
            </a:r>
            <a:r>
              <a:rPr lang="en-US" sz="1000" b="1" dirty="0"/>
              <a:t> 16 de </a:t>
            </a:r>
            <a:r>
              <a:rPr lang="en-US" sz="1000" b="1" dirty="0" err="1"/>
              <a:t>product_name</a:t>
            </a:r>
            <a:r>
              <a:rPr lang="en-US" sz="1000" b="1" dirty="0"/>
              <a:t> (EDA)</a:t>
            </a:r>
          </a:p>
          <a:p>
            <a:endParaRPr lang="en-US" sz="1000" dirty="0"/>
          </a:p>
          <a:p>
            <a:r>
              <a:rPr lang="en-US" sz="1000" dirty="0"/>
              <a:t>index		</a:t>
            </a:r>
            <a:r>
              <a:rPr lang="en-US" sz="1000" dirty="0" err="1"/>
              <a:t>product_name</a:t>
            </a:r>
            <a:r>
              <a:rPr lang="en-US" sz="1000" dirty="0"/>
              <a:t>      		</a:t>
            </a:r>
            <a:r>
              <a:rPr lang="en-US" sz="1000" dirty="0" err="1"/>
              <a:t>product_id</a:t>
            </a:r>
            <a:endParaRPr lang="en-US" sz="1000" dirty="0"/>
          </a:p>
          <a:p>
            <a:r>
              <a:rPr lang="en-US" sz="1000" dirty="0"/>
              <a:t>985         #10- 4 1/8" x 9 1/2" Recycled Envelopes  OFF-EN-10000461</a:t>
            </a:r>
          </a:p>
          <a:p>
            <a:r>
              <a:rPr lang="en-US" sz="1000" dirty="0"/>
              <a:t>1989        #10- 4 1/8" x 9 1/2" Recycled Envelopes  OFF-EN-10000781</a:t>
            </a:r>
          </a:p>
          <a:p>
            <a:r>
              <a:rPr lang="en-US" sz="1000" dirty="0"/>
              <a:t>…….			…….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D51A22-B873-9D4E-D114-6738E2164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" y="1488003"/>
            <a:ext cx="8904569" cy="32095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969DE0-7B45-A028-481E-CB6E9628AE04}"/>
              </a:ext>
            </a:extLst>
          </p:cNvPr>
          <p:cNvSpPr txBox="1"/>
          <p:nvPr/>
        </p:nvSpPr>
        <p:spPr>
          <a:xfrm>
            <a:off x="96982" y="111867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➡️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Clustering (K-means)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1A939AB-BB18-801F-3D7E-DC6C93640044}"/>
              </a:ext>
            </a:extLst>
          </p:cNvPr>
          <p:cNvGrpSpPr/>
          <p:nvPr/>
        </p:nvGrpSpPr>
        <p:grpSpPr>
          <a:xfrm>
            <a:off x="0" y="1"/>
            <a:ext cx="9144000" cy="593383"/>
            <a:chOff x="0" y="0"/>
            <a:chExt cx="9144000" cy="658368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544F886A-D49D-1B99-52D8-2D4949360EE0}"/>
                </a:ext>
              </a:extLst>
            </p:cNvPr>
            <p:cNvSpPr/>
            <p:nvPr/>
          </p:nvSpPr>
          <p:spPr>
            <a:xfrm>
              <a:off x="0" y="0"/>
              <a:ext cx="9144000" cy="658368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itle 1">
              <a:extLst>
                <a:ext uri="{FF2B5EF4-FFF2-40B4-BE49-F238E27FC236}">
                  <a16:creationId xmlns:a16="http://schemas.microsoft.com/office/drawing/2014/main" id="{DF941457-1242-CCD9-6BF2-0A6F8D06B448}"/>
                </a:ext>
              </a:extLst>
            </p:cNvPr>
            <p:cNvSpPr txBox="1">
              <a:spLocks/>
            </p:cNvSpPr>
            <p:nvPr/>
          </p:nvSpPr>
          <p:spPr>
            <a:xfrm>
              <a:off x="254000" y="76200"/>
              <a:ext cx="8796866" cy="491804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n-US" sz="4000" b="1" dirty="0">
                  <a:solidFill>
                    <a:schemeClr val="bg1"/>
                  </a:solidFill>
                </a:rPr>
                <a:t>EDA -</a:t>
              </a:r>
              <a:r>
                <a:rPr lang="en-US" sz="4000" b="1" dirty="0" err="1">
                  <a:solidFill>
                    <a:schemeClr val="bg1"/>
                  </a:solidFill>
                </a:rPr>
                <a:t>Exporatory</a:t>
              </a:r>
              <a:r>
                <a:rPr lang="en-US" sz="4000" b="1" dirty="0">
                  <a:solidFill>
                    <a:schemeClr val="bg1"/>
                  </a:solidFill>
                </a:rPr>
                <a:t> Data Analysis (3)</a:t>
              </a:r>
              <a:endParaRPr lang="en-US" sz="4000" b="1" dirty="0">
                <a:solidFill>
                  <a:schemeClr val="bg1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26298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">
            <a:extLst>
              <a:ext uri="{FF2B5EF4-FFF2-40B4-BE49-F238E27FC236}">
                <a16:creationId xmlns:a16="http://schemas.microsoft.com/office/drawing/2014/main" id="{24EA69DC-7A0B-5122-139F-DA1328BC42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0" y="1183503"/>
            <a:ext cx="8374170" cy="2644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➡️ </a:t>
            </a: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Conceptul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‘Zero-Leakage’: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	-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impartite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en-US" altLang="en-US" sz="1400" dirty="0" err="1"/>
              <a:t>relativ</a:t>
            </a:r>
            <a:r>
              <a:rPr lang="en-US" altLang="en-US" sz="1400" dirty="0"/>
              <a:t> uniform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 ani, </a:t>
            </a:r>
            <a:r>
              <a:rPr lang="en-US" altLang="en-US" sz="1400" dirty="0" err="1"/>
              <a:t>datele</a:t>
            </a:r>
            <a:r>
              <a:rPr lang="en-US" altLang="en-US" sz="1400" dirty="0"/>
              <a:t> din </a:t>
            </a:r>
            <a:r>
              <a:rPr lang="en-US" altLang="en-US" sz="1400" dirty="0" err="1"/>
              <a:t>anul</a:t>
            </a:r>
            <a:r>
              <a:rPr lang="en-US" altLang="en-US" sz="1400" dirty="0"/>
              <a:t> </a:t>
            </a:r>
            <a:r>
              <a:rPr lang="en-US" altLang="en-US" sz="1400" dirty="0" err="1"/>
              <a:t>anuterior</a:t>
            </a:r>
            <a:r>
              <a:rPr lang="en-US" altLang="en-US" sz="1400" dirty="0"/>
              <a:t> nu </a:t>
            </a:r>
            <a:r>
              <a:rPr lang="en-US" altLang="en-US" sz="1400" dirty="0" err="1"/>
              <a:t>contamineaza</a:t>
            </a:r>
            <a:r>
              <a:rPr lang="en-US" altLang="en-US" sz="1400" dirty="0"/>
              <a:t> </a:t>
            </a:r>
            <a:r>
              <a:rPr lang="en-US" altLang="en-US" sz="1400" dirty="0" err="1"/>
              <a:t>anul</a:t>
            </a:r>
            <a:r>
              <a:rPr lang="en-US" altLang="en-US" sz="1400" dirty="0"/>
              <a:t> </a:t>
            </a:r>
            <a:r>
              <a:rPr lang="en-US" altLang="en-US" sz="1400" dirty="0" err="1"/>
              <a:t>curent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➡️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Train (2014-2016):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	-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Antrenarea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pe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trecutul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cunoscut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(80% din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istorice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➡️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 </a:t>
            </a:r>
            <a:r>
              <a:rPr lang="en-US" altLang="en-US" sz="1400" b="1" dirty="0"/>
              <a:t>(2014-2016)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	-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Validare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interna (20% din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istorice</a:t>
            </a:r>
            <a:r>
              <a:rPr lang="en-US" altLang="en-US" sz="1400" dirty="0"/>
              <a:t>)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➡️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Blind Set (2017):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	-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Simularea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productiei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reale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pe un an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complet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necunoscut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modelului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F49E917-A24D-6BE9-0392-48C14FC4DB72}"/>
              </a:ext>
            </a:extLst>
          </p:cNvPr>
          <p:cNvGrpSpPr/>
          <p:nvPr/>
        </p:nvGrpSpPr>
        <p:grpSpPr>
          <a:xfrm>
            <a:off x="0" y="0"/>
            <a:ext cx="9144000" cy="575733"/>
            <a:chOff x="0" y="0"/>
            <a:chExt cx="9144000" cy="658368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50416B38-D73C-E7C9-22D4-CB93F45E98AC}"/>
                </a:ext>
              </a:extLst>
            </p:cNvPr>
            <p:cNvSpPr/>
            <p:nvPr/>
          </p:nvSpPr>
          <p:spPr>
            <a:xfrm>
              <a:off x="0" y="0"/>
              <a:ext cx="9144000" cy="658368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itle 1">
              <a:extLst>
                <a:ext uri="{FF2B5EF4-FFF2-40B4-BE49-F238E27FC236}">
                  <a16:creationId xmlns:a16="http://schemas.microsoft.com/office/drawing/2014/main" id="{67F7EB02-7696-8821-5CD6-AB556B5AEEB5}"/>
                </a:ext>
              </a:extLst>
            </p:cNvPr>
            <p:cNvSpPr txBox="1">
              <a:spLocks/>
            </p:cNvSpPr>
            <p:nvPr/>
          </p:nvSpPr>
          <p:spPr>
            <a:xfrm>
              <a:off x="254000" y="76200"/>
              <a:ext cx="8796866" cy="491804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n-US" sz="4000" b="1" dirty="0" err="1">
                  <a:solidFill>
                    <a:schemeClr val="bg1"/>
                  </a:solidFill>
                </a:rPr>
                <a:t>Arhitectura</a:t>
              </a:r>
              <a:r>
                <a:rPr lang="en-US" sz="4000" b="1" dirty="0">
                  <a:solidFill>
                    <a:schemeClr val="bg1"/>
                  </a:solidFill>
                </a:rPr>
                <a:t> </a:t>
              </a:r>
              <a:r>
                <a:rPr lang="en-US" sz="4000" b="1" dirty="0" err="1">
                  <a:solidFill>
                    <a:schemeClr val="bg1"/>
                  </a:solidFill>
                </a:rPr>
                <a:t>Datelor</a:t>
              </a:r>
              <a:endParaRPr lang="en-US" sz="4000" b="1" dirty="0">
                <a:solidFill>
                  <a:schemeClr val="bg1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360BDDD3-B719-02FE-3D8E-3F51ADEA97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24" y="1173797"/>
            <a:ext cx="9021842" cy="4114357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592A90C-6DB9-D4F8-96D7-E7597E97EE76}"/>
              </a:ext>
            </a:extLst>
          </p:cNvPr>
          <p:cNvGrpSpPr/>
          <p:nvPr/>
        </p:nvGrpSpPr>
        <p:grpSpPr>
          <a:xfrm>
            <a:off x="0" y="1"/>
            <a:ext cx="9144000" cy="642804"/>
            <a:chOff x="0" y="0"/>
            <a:chExt cx="9144000" cy="658368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2A4B3178-D0DD-00F0-E762-847F80A10C19}"/>
                </a:ext>
              </a:extLst>
            </p:cNvPr>
            <p:cNvSpPr/>
            <p:nvPr/>
          </p:nvSpPr>
          <p:spPr>
            <a:xfrm>
              <a:off x="0" y="0"/>
              <a:ext cx="9144000" cy="658368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5" name="Title 1">
              <a:extLst>
                <a:ext uri="{FF2B5EF4-FFF2-40B4-BE49-F238E27FC236}">
                  <a16:creationId xmlns:a16="http://schemas.microsoft.com/office/drawing/2014/main" id="{063544C3-32CE-80D3-F14A-79E422ED5C7F}"/>
                </a:ext>
              </a:extLst>
            </p:cNvPr>
            <p:cNvSpPr txBox="1">
              <a:spLocks/>
            </p:cNvSpPr>
            <p:nvPr/>
          </p:nvSpPr>
          <p:spPr>
            <a:xfrm>
              <a:off x="254000" y="76200"/>
              <a:ext cx="8796866" cy="491804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n-US" sz="4000" b="1" dirty="0">
                  <a:solidFill>
                    <a:schemeClr val="bg1"/>
                  </a:solidFill>
                </a:rPr>
                <a:t>Insights: </a:t>
              </a:r>
              <a:r>
                <a:rPr lang="en-US" sz="4000" b="1" dirty="0" err="1">
                  <a:solidFill>
                    <a:schemeClr val="bg1"/>
                  </a:solidFill>
                </a:rPr>
                <a:t>Factorii</a:t>
              </a:r>
              <a:r>
                <a:rPr lang="en-US" sz="4000" b="1" dirty="0">
                  <a:solidFill>
                    <a:schemeClr val="bg1"/>
                  </a:solidFill>
                </a:rPr>
                <a:t> </a:t>
              </a:r>
              <a:r>
                <a:rPr lang="en-US" sz="4000" b="1" dirty="0" err="1">
                  <a:solidFill>
                    <a:schemeClr val="bg1"/>
                  </a:solidFill>
                </a:rPr>
                <a:t>Determinanti</a:t>
              </a:r>
              <a:endParaRPr lang="en-US" sz="4000" b="1" dirty="0">
                <a:solidFill>
                  <a:schemeClr val="bg1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4000" y="821856"/>
            <a:ext cx="8432800" cy="536727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/>
              <a:t>➡️ </a:t>
            </a:r>
            <a:r>
              <a:rPr lang="en-US" sz="1600" b="1" dirty="0" err="1"/>
              <a:t>Identificarea</a:t>
            </a:r>
            <a:r>
              <a:rPr lang="en-US" sz="1600" b="1" dirty="0"/>
              <a:t> </a:t>
            </a:r>
            <a:r>
              <a:rPr lang="en-US" sz="1600" b="1" dirty="0" err="1"/>
              <a:t>unor</a:t>
            </a:r>
            <a:r>
              <a:rPr lang="en-US" sz="1600" b="1" dirty="0"/>
              <a:t> </a:t>
            </a:r>
            <a:r>
              <a:rPr lang="en-US" sz="1600" b="1" dirty="0" err="1"/>
              <a:t>tipare</a:t>
            </a:r>
            <a:r>
              <a:rPr lang="en-US" sz="1600" b="1" dirty="0"/>
              <a:t>:</a:t>
            </a:r>
            <a:r>
              <a:rPr lang="en-US" sz="1600" dirty="0"/>
              <a:t> </a:t>
            </a:r>
            <a:r>
              <a:rPr lang="en-US" sz="1600" dirty="0" err="1"/>
              <a:t>cei</a:t>
            </a:r>
            <a:r>
              <a:rPr lang="en-US" sz="1600" dirty="0"/>
              <a:t> </a:t>
            </a:r>
            <a:r>
              <a:rPr lang="en-US" sz="1600" dirty="0" err="1"/>
              <a:t>mai</a:t>
            </a:r>
            <a:r>
              <a:rPr lang="en-US" sz="1600" dirty="0"/>
              <a:t> </a:t>
            </a:r>
            <a:r>
              <a:rPr lang="en-US" sz="1600" dirty="0" err="1"/>
              <a:t>puternici</a:t>
            </a:r>
            <a:r>
              <a:rPr lang="en-US" sz="1600" dirty="0"/>
              <a:t> predictor ai </a:t>
            </a:r>
            <a:r>
              <a:rPr lang="en-US" sz="1600" dirty="0" err="1"/>
              <a:t>profitului</a:t>
            </a:r>
            <a:r>
              <a:rPr lang="en-US" sz="1600" dirty="0"/>
              <a:t>:</a:t>
            </a:r>
          </a:p>
          <a:p>
            <a:pPr lvl="1">
              <a:lnSpc>
                <a:spcPct val="150000"/>
              </a:lnSpc>
            </a:pPr>
            <a:r>
              <a:rPr lang="en-US" sz="1400" dirty="0"/>
              <a:t>	</a:t>
            </a:r>
            <a:r>
              <a:rPr lang="en-US" sz="1400" dirty="0" err="1"/>
              <a:t>profilul</a:t>
            </a:r>
            <a:r>
              <a:rPr lang="en-US" sz="1400" dirty="0"/>
              <a:t> </a:t>
            </a:r>
            <a:r>
              <a:rPr lang="en-US" sz="1400" dirty="0" err="1"/>
              <a:t>istoric</a:t>
            </a:r>
            <a:r>
              <a:rPr lang="en-US" sz="1400" dirty="0"/>
              <a:t> al </a:t>
            </a:r>
            <a:r>
              <a:rPr lang="en-US" sz="1400" dirty="0" err="1"/>
              <a:t>clientului</a:t>
            </a:r>
            <a:r>
              <a:rPr lang="en-US" sz="1400" dirty="0"/>
              <a:t> (</a:t>
            </a:r>
            <a:r>
              <a:rPr lang="en-US" sz="1400" dirty="0" err="1"/>
              <a:t>avg_margin</a:t>
            </a:r>
            <a:r>
              <a:rPr lang="en-US" sz="1400" dirty="0"/>
              <a:t>, </a:t>
            </a:r>
            <a:r>
              <a:rPr lang="en-US" sz="1400" dirty="0" err="1"/>
              <a:t>loss_rate</a:t>
            </a:r>
            <a:r>
              <a:rPr lang="en-US" sz="1400" dirty="0"/>
              <a:t>, tenure) </a:t>
            </a:r>
          </a:p>
          <a:p>
            <a:pPr lvl="1">
              <a:lnSpc>
                <a:spcPct val="150000"/>
              </a:lnSpc>
            </a:pPr>
            <a:r>
              <a:rPr lang="en-US" sz="1400" dirty="0"/>
              <a:t>	</a:t>
            </a:r>
            <a:r>
              <a:rPr lang="en-US" sz="1400" dirty="0" err="1"/>
              <a:t>profitul</a:t>
            </a:r>
            <a:r>
              <a:rPr lang="en-US" sz="1400" dirty="0"/>
              <a:t> </a:t>
            </a:r>
            <a:r>
              <a:rPr lang="en-US" sz="1400" dirty="0" err="1"/>
              <a:t>mediu</a:t>
            </a:r>
            <a:r>
              <a:rPr lang="en-US" sz="1400" dirty="0"/>
              <a:t> </a:t>
            </a:r>
            <a:r>
              <a:rPr lang="en-US" sz="1400" dirty="0" err="1"/>
              <a:t>calculat</a:t>
            </a:r>
            <a:r>
              <a:rPr lang="en-US" sz="1400" dirty="0"/>
              <a:t> pe 4 </a:t>
            </a:r>
            <a:r>
              <a:rPr lang="en-US" sz="1400" dirty="0" err="1"/>
              <a:t>niveluri</a:t>
            </a:r>
            <a:r>
              <a:rPr lang="en-US" sz="1400" dirty="0"/>
              <a:t> (sub-</a:t>
            </a:r>
            <a:r>
              <a:rPr lang="en-US" sz="1400" dirty="0" err="1"/>
              <a:t>categorie</a:t>
            </a:r>
            <a:r>
              <a:rPr lang="en-US" sz="1400" dirty="0"/>
              <a:t> × </a:t>
            </a:r>
            <a:r>
              <a:rPr lang="en-US" sz="1400" dirty="0" err="1"/>
              <a:t>regiune</a:t>
            </a:r>
            <a:r>
              <a:rPr lang="en-US" sz="1400" dirty="0"/>
              <a:t>, </a:t>
            </a:r>
            <a:r>
              <a:rPr lang="en-US" sz="1400" dirty="0" err="1"/>
              <a:t>categorie</a:t>
            </a:r>
            <a:r>
              <a:rPr lang="en-US" sz="1400" dirty="0"/>
              <a:t>, </a:t>
            </a:r>
            <a:r>
              <a:rPr lang="en-US" sz="1400" dirty="0" err="1"/>
              <a:t>produs</a:t>
            </a:r>
            <a:r>
              <a:rPr lang="en-US" sz="1400" dirty="0"/>
              <a:t>, </a:t>
            </a:r>
            <a:r>
              <a:rPr lang="en-US" sz="1400" dirty="0" err="1"/>
              <a:t>sezon</a:t>
            </a:r>
            <a:r>
              <a:rPr lang="en-US" sz="1400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/>
              <a:t>➡️ </a:t>
            </a:r>
            <a:r>
              <a:rPr lang="en-US" sz="1600" b="1" dirty="0" err="1"/>
              <a:t>Procesarea</a:t>
            </a:r>
            <a:r>
              <a:rPr lang="en-US" sz="1600" b="1" dirty="0"/>
              <a:t> Discount </a:t>
            </a:r>
            <a:r>
              <a:rPr lang="en-US" sz="1600" b="1" dirty="0" err="1"/>
              <a:t>si</a:t>
            </a:r>
            <a:r>
              <a:rPr lang="en-US" sz="1600" b="1" dirty="0"/>
              <a:t> Profit la </a:t>
            </a:r>
            <a:r>
              <a:rPr lang="en-US" sz="1600" b="1" dirty="0" err="1"/>
              <a:t>nivel</a:t>
            </a:r>
            <a:r>
              <a:rPr lang="en-US" sz="1600" b="1" dirty="0"/>
              <a:t> de client</a:t>
            </a:r>
            <a:r>
              <a:rPr lang="en-US" sz="1600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sz="1400" dirty="0" err="1"/>
              <a:t>relatia</a:t>
            </a:r>
            <a:r>
              <a:rPr lang="en-US" sz="1400" dirty="0"/>
              <a:t> discount-profit invers </a:t>
            </a:r>
            <a:r>
              <a:rPr lang="en-US" sz="1400" dirty="0" err="1"/>
              <a:t>proportionala</a:t>
            </a:r>
            <a:r>
              <a:rPr lang="en-US" sz="1400" dirty="0"/>
              <a:t> (e.g. disc ≥ 30%= 91.6% </a:t>
            </a:r>
            <a:r>
              <a:rPr lang="en-US" sz="1400" dirty="0" err="1"/>
              <a:t>pierdere</a:t>
            </a:r>
            <a:r>
              <a:rPr lang="en-US" sz="1400" dirty="0"/>
              <a:t>) -&gt; </a:t>
            </a:r>
            <a:r>
              <a:rPr lang="en-US" sz="1400" dirty="0" err="1"/>
              <a:t>high_disc_pct</a:t>
            </a:r>
            <a:r>
              <a:rPr lang="en-US" sz="1400" dirty="0"/>
              <a:t>, </a:t>
            </a:r>
            <a:r>
              <a:rPr lang="en-US" sz="1400" dirty="0" err="1"/>
              <a:t>zero_disc_pct</a:t>
            </a:r>
            <a:r>
              <a:rPr lang="en-US" sz="1400" dirty="0"/>
              <a:t> </a:t>
            </a:r>
            <a:r>
              <a:rPr lang="en-US" sz="1400" dirty="0" err="1"/>
              <a:t>și</a:t>
            </a:r>
            <a:r>
              <a:rPr lang="en-US" sz="1400" dirty="0"/>
              <a:t> </a:t>
            </a:r>
            <a:r>
              <a:rPr lang="en-US" sz="1400" dirty="0" err="1"/>
              <a:t>discount_sq</a:t>
            </a:r>
            <a:r>
              <a:rPr lang="en-US" sz="1400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sz="1400" dirty="0" err="1"/>
              <a:t>tranzactiile</a:t>
            </a:r>
            <a:r>
              <a:rPr lang="en-US" sz="1400" dirty="0"/>
              <a:t> </a:t>
            </a:r>
            <a:r>
              <a:rPr lang="en-US" sz="1400" dirty="0" err="1"/>
              <a:t>agregate</a:t>
            </a:r>
            <a:r>
              <a:rPr lang="en-US" sz="1400" dirty="0"/>
              <a:t> la </a:t>
            </a:r>
            <a:r>
              <a:rPr lang="en-US" sz="1400" dirty="0" err="1"/>
              <a:t>nivel</a:t>
            </a:r>
            <a:r>
              <a:rPr lang="en-US" sz="1400" dirty="0"/>
              <a:t> customer × an × </a:t>
            </a:r>
            <a:r>
              <a:rPr lang="en-US" sz="1400" dirty="0" err="1"/>
              <a:t>regiune</a:t>
            </a:r>
            <a:r>
              <a:rPr lang="en-US" sz="1400" dirty="0"/>
              <a:t> × sub-</a:t>
            </a:r>
            <a:r>
              <a:rPr lang="en-US" sz="1400" dirty="0" err="1"/>
              <a:t>categorie</a:t>
            </a:r>
            <a:endParaRPr lang="en-US" sz="1400" dirty="0"/>
          </a:p>
          <a:p>
            <a:pPr lvl="1">
              <a:lnSpc>
                <a:spcPct val="150000"/>
              </a:lnSpc>
            </a:pPr>
            <a:r>
              <a:rPr lang="en-US" sz="1400" dirty="0" err="1"/>
              <a:t>winzorizare</a:t>
            </a:r>
            <a:r>
              <a:rPr lang="en-US" sz="1400" dirty="0"/>
              <a:t> (percentile 1–99% din train) </a:t>
            </a:r>
          </a:p>
          <a:p>
            <a:pPr lvl="1">
              <a:lnSpc>
                <a:spcPct val="150000"/>
              </a:lnSpc>
            </a:pPr>
            <a:r>
              <a:rPr lang="en-US" sz="1400" dirty="0" err="1"/>
              <a:t>transformare</a:t>
            </a:r>
            <a:r>
              <a:rPr lang="en-US" sz="1400" dirty="0"/>
              <a:t> Yeo-Johnson </a:t>
            </a:r>
            <a:r>
              <a:rPr lang="en-US" sz="1400" dirty="0" err="1"/>
              <a:t>pentru</a:t>
            </a:r>
            <a:r>
              <a:rPr lang="en-US" sz="1400" dirty="0"/>
              <a:t> </a:t>
            </a:r>
            <a:r>
              <a:rPr lang="en-US" sz="1400" dirty="0" err="1"/>
              <a:t>stabilizarea</a:t>
            </a:r>
            <a:r>
              <a:rPr lang="en-US" sz="1400" dirty="0"/>
              <a:t> </a:t>
            </a:r>
            <a:r>
              <a:rPr lang="en-US" sz="1400" dirty="0" err="1"/>
              <a:t>gradientilor</a:t>
            </a:r>
            <a:r>
              <a:rPr lang="en-US" sz="1400" dirty="0"/>
              <a:t> (</a:t>
            </a:r>
            <a:r>
              <a:rPr lang="en-US" sz="1400" dirty="0" err="1"/>
              <a:t>comprimarea</a:t>
            </a:r>
            <a:r>
              <a:rPr lang="en-US" sz="1400" dirty="0"/>
              <a:t> </a:t>
            </a:r>
            <a:r>
              <a:rPr lang="en-US" sz="1400" dirty="0" err="1"/>
              <a:t>cozilor</a:t>
            </a:r>
            <a:r>
              <a:rPr lang="en-US" sz="1400" dirty="0"/>
              <a:t> </a:t>
            </a:r>
            <a:r>
              <a:rPr lang="en-US" sz="1400" dirty="0" err="1"/>
              <a:t>distributiei</a:t>
            </a:r>
            <a:r>
              <a:rPr lang="en-US" sz="1400" dirty="0"/>
              <a:t>)</a:t>
            </a:r>
          </a:p>
          <a:p>
            <a:pPr marL="0" indent="0">
              <a:buNone/>
            </a:pPr>
            <a:r>
              <a:rPr lang="en-US" sz="1600" dirty="0"/>
              <a:t>➡️ </a:t>
            </a:r>
            <a:r>
              <a:rPr lang="en-US" sz="1600" b="1" dirty="0" err="1"/>
              <a:t>Mecanism</a:t>
            </a:r>
            <a:r>
              <a:rPr lang="en-US" sz="1600" b="1" dirty="0"/>
              <a:t> fallback:</a:t>
            </a:r>
            <a:r>
              <a:rPr lang="en-US" sz="1600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sz="1400" dirty="0" err="1"/>
              <a:t>pentru</a:t>
            </a:r>
            <a:r>
              <a:rPr lang="en-US" sz="1400" dirty="0"/>
              <a:t> </a:t>
            </a:r>
            <a:r>
              <a:rPr lang="en-US" sz="1400" dirty="0" err="1"/>
              <a:t>tranzactiile</a:t>
            </a:r>
            <a:r>
              <a:rPr lang="en-US" sz="1400" dirty="0"/>
              <a:t> </a:t>
            </a:r>
            <a:r>
              <a:rPr lang="en-US" sz="1400" dirty="0" err="1"/>
              <a:t>noi</a:t>
            </a:r>
            <a:r>
              <a:rPr lang="en-US" sz="1400" dirty="0"/>
              <a:t> (e.g.2017), </a:t>
            </a:r>
            <a:r>
              <a:rPr lang="en-US" sz="1400" dirty="0" err="1"/>
              <a:t>folosim</a:t>
            </a:r>
            <a:r>
              <a:rPr lang="en-US" sz="1400" dirty="0"/>
              <a:t> </a:t>
            </a:r>
            <a:r>
              <a:rPr lang="en-US" sz="1400" dirty="0" err="1"/>
              <a:t>profitul</a:t>
            </a:r>
            <a:r>
              <a:rPr lang="en-US" sz="1400" dirty="0"/>
              <a:t> </a:t>
            </a:r>
            <a:r>
              <a:rPr lang="en-US" sz="1400" dirty="0" err="1"/>
              <a:t>mediu</a:t>
            </a:r>
            <a:r>
              <a:rPr lang="en-US" sz="1400" dirty="0"/>
              <a:t> </a:t>
            </a:r>
            <a:r>
              <a:rPr lang="en-US" sz="1400" dirty="0" err="1"/>
              <a:t>istoric</a:t>
            </a:r>
            <a:r>
              <a:rPr lang="en-US" sz="1400" dirty="0"/>
              <a:t> </a:t>
            </a:r>
            <a:r>
              <a:rPr lang="en-US" sz="1400" dirty="0" err="1"/>
              <a:t>agregat</a:t>
            </a:r>
            <a:r>
              <a:rPr lang="en-US" sz="1400" dirty="0"/>
              <a:t> </a:t>
            </a:r>
            <a:r>
              <a:rPr lang="en-US" sz="1400" dirty="0" err="1"/>
              <a:t>pentru</a:t>
            </a:r>
            <a:r>
              <a:rPr lang="en-US" sz="1400" dirty="0"/>
              <a:t> a </a:t>
            </a:r>
            <a:r>
              <a:rPr lang="en-US" sz="1400" dirty="0" err="1"/>
              <a:t>evita</a:t>
            </a:r>
            <a:r>
              <a:rPr lang="en-US" sz="1400" dirty="0"/>
              <a:t> </a:t>
            </a:r>
            <a:r>
              <a:rPr lang="en-US" sz="1400" dirty="0" err="1"/>
              <a:t>predictiile</a:t>
            </a:r>
            <a:r>
              <a:rPr lang="en-US" sz="1400" dirty="0"/>
              <a:t> </a:t>
            </a:r>
            <a:r>
              <a:rPr lang="en-US" sz="1400" dirty="0" err="1"/>
              <a:t>oarbe</a:t>
            </a:r>
            <a:r>
              <a:rPr lang="en-US" sz="1400" dirty="0"/>
              <a:t>: </a:t>
            </a:r>
            <a:r>
              <a:rPr lang="en-US" sz="1400" dirty="0" err="1"/>
              <a:t>p_last</a:t>
            </a:r>
            <a:r>
              <a:rPr lang="en-US" sz="1400" dirty="0"/>
              <a:t>, </a:t>
            </a:r>
            <a:r>
              <a:rPr lang="en-US" sz="1400" dirty="0" err="1"/>
              <a:t>margin_trend</a:t>
            </a:r>
            <a:r>
              <a:rPr lang="en-US" sz="1400" dirty="0"/>
              <a:t> </a:t>
            </a:r>
            <a:r>
              <a:rPr lang="en-US" sz="1400" dirty="0" err="1"/>
              <a:t>și</a:t>
            </a:r>
            <a:r>
              <a:rPr lang="en-US" sz="1400" dirty="0"/>
              <a:t> </a:t>
            </a:r>
            <a:r>
              <a:rPr lang="en-US" sz="1400" dirty="0" err="1"/>
              <a:t>profit_last</a:t>
            </a:r>
            <a:r>
              <a:rPr lang="en-US" sz="1400" dirty="0"/>
              <a:t> </a:t>
            </a:r>
            <a:r>
              <a:rPr lang="en-US" sz="1400" dirty="0" err="1"/>
              <a:t>utilizeaza</a:t>
            </a:r>
            <a:r>
              <a:rPr lang="en-US" sz="1400" dirty="0"/>
              <a:t> </a:t>
            </a:r>
            <a:r>
              <a:rPr lang="en-US" sz="1400" dirty="0" err="1"/>
              <a:t>istoricul</a:t>
            </a:r>
            <a:r>
              <a:rPr lang="en-US" sz="1400" dirty="0"/>
              <a:t> </a:t>
            </a:r>
            <a:r>
              <a:rPr lang="en-US" sz="1400" dirty="0" err="1"/>
              <a:t>clientului</a:t>
            </a:r>
            <a:r>
              <a:rPr lang="en-US" sz="1400" dirty="0"/>
              <a:t> </a:t>
            </a:r>
            <a:r>
              <a:rPr lang="en-US" sz="1400" dirty="0" err="1"/>
              <a:t>prin</a:t>
            </a:r>
            <a:r>
              <a:rPr lang="en-US" sz="1400" dirty="0"/>
              <a:t> shift strict </a:t>
            </a:r>
            <a:r>
              <a:rPr lang="en-US" sz="1400" dirty="0" err="1"/>
              <a:t>retroactiv</a:t>
            </a:r>
            <a:r>
              <a:rPr lang="en-US" sz="1400" dirty="0"/>
              <a:t> = no-leakage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E8C0B47-2685-7617-ACCD-DE2729893110}"/>
              </a:ext>
            </a:extLst>
          </p:cNvPr>
          <p:cNvGrpSpPr/>
          <p:nvPr/>
        </p:nvGrpSpPr>
        <p:grpSpPr>
          <a:xfrm>
            <a:off x="0" y="0"/>
            <a:ext cx="9144000" cy="668867"/>
            <a:chOff x="0" y="0"/>
            <a:chExt cx="9144000" cy="658368"/>
          </a:xfrm>
        </p:grpSpPr>
        <p:sp>
          <p:nvSpPr>
            <p:cNvPr id="7" name="Shape 0">
              <a:extLst>
                <a:ext uri="{FF2B5EF4-FFF2-40B4-BE49-F238E27FC236}">
                  <a16:creationId xmlns:a16="http://schemas.microsoft.com/office/drawing/2014/main" id="{3161A948-4F06-AAC4-77E6-FC4705B45678}"/>
                </a:ext>
              </a:extLst>
            </p:cNvPr>
            <p:cNvSpPr/>
            <p:nvPr/>
          </p:nvSpPr>
          <p:spPr>
            <a:xfrm>
              <a:off x="0" y="0"/>
              <a:ext cx="9144000" cy="658368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itle 1"/>
            <p:cNvSpPr txBox="1">
              <a:spLocks/>
            </p:cNvSpPr>
            <p:nvPr/>
          </p:nvSpPr>
          <p:spPr>
            <a:xfrm>
              <a:off x="254000" y="76200"/>
              <a:ext cx="8796866" cy="464158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n-US" sz="4000" b="1" dirty="0">
                  <a:solidFill>
                    <a:schemeClr val="bg1"/>
                  </a:solidFill>
                </a:rPr>
                <a:t>Pipeline: Memorie model</a:t>
              </a:r>
              <a:endParaRPr lang="en-US" sz="4000" b="1" dirty="0">
                <a:solidFill>
                  <a:schemeClr val="bg1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C3B88717-8E3B-F9DC-93E4-DE3518F42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3934" y="593682"/>
            <a:ext cx="6316133" cy="5868740"/>
          </a:xfrm>
          <a:prstGeom prst="rect">
            <a:avLst/>
          </a:prstGeom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E80DB94-4160-BE77-C38A-8E878C513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8201" y="1291479"/>
            <a:ext cx="2954866" cy="49780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dirty="0"/>
              <a:t>➡️ </a:t>
            </a:r>
            <a:r>
              <a:rPr lang="en-US" sz="1400" b="1" dirty="0" err="1"/>
              <a:t>Profil</a:t>
            </a:r>
            <a:r>
              <a:rPr lang="en-US" sz="1400" b="1" dirty="0"/>
              <a:t> Client RFM</a:t>
            </a:r>
          </a:p>
          <a:p>
            <a:pPr marL="0" indent="0">
              <a:buNone/>
            </a:pPr>
            <a:r>
              <a:rPr lang="en-US" sz="1400" b="1" dirty="0"/>
              <a:t>	- </a:t>
            </a:r>
            <a:r>
              <a:rPr lang="en-US" sz="1400" i="1" dirty="0"/>
              <a:t>Recent, </a:t>
            </a:r>
            <a:r>
              <a:rPr lang="en-US" sz="1400" i="1" dirty="0" err="1"/>
              <a:t>Frecvent</a:t>
            </a:r>
            <a:r>
              <a:rPr lang="en-US" sz="1400" i="1" dirty="0"/>
              <a:t>, </a:t>
            </a:r>
            <a:r>
              <a:rPr lang="en-US" sz="1400" i="1" dirty="0" err="1"/>
              <a:t>Monetar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➡️ </a:t>
            </a:r>
            <a:r>
              <a:rPr lang="en-US" sz="1400" b="1" dirty="0"/>
              <a:t>Lista de features  </a:t>
            </a:r>
          </a:p>
          <a:p>
            <a:pPr marL="0" indent="0">
              <a:buNone/>
            </a:pPr>
            <a:r>
              <a:rPr lang="en-US" sz="1400" b="1" dirty="0"/>
              <a:t>	</a:t>
            </a:r>
            <a:r>
              <a:rPr lang="en-US" sz="1400" b="1" i="1" dirty="0"/>
              <a:t>- </a:t>
            </a:r>
            <a:r>
              <a:rPr lang="en-US" sz="1400" i="1" dirty="0"/>
              <a:t>44 de features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➡️ </a:t>
            </a:r>
            <a:r>
              <a:rPr lang="en-US" sz="1400" b="1" dirty="0" err="1"/>
              <a:t>Impactul</a:t>
            </a:r>
            <a:r>
              <a:rPr lang="en-US" sz="1400" b="1" dirty="0"/>
              <a:t> </a:t>
            </a:r>
            <a:r>
              <a:rPr lang="en-US" sz="1400" b="1" dirty="0" err="1"/>
              <a:t>Discountului</a:t>
            </a:r>
            <a:r>
              <a:rPr lang="en-US" sz="1400" b="1" dirty="0"/>
              <a:t> </a:t>
            </a:r>
          </a:p>
          <a:p>
            <a:pPr marL="0" indent="0">
              <a:buNone/>
            </a:pPr>
            <a:r>
              <a:rPr lang="en-US" sz="1400" b="1" dirty="0"/>
              <a:t>	- </a:t>
            </a:r>
            <a:r>
              <a:rPr lang="en-US" sz="1400" dirty="0" err="1"/>
              <a:t>prag</a:t>
            </a:r>
            <a:r>
              <a:rPr lang="en-US" sz="1400" b="1" dirty="0"/>
              <a:t> </a:t>
            </a:r>
            <a:r>
              <a:rPr lang="en-US" sz="1400" i="1" dirty="0"/>
              <a:t>30%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➡️ </a:t>
            </a:r>
            <a:r>
              <a:rPr lang="en-US" sz="1400" b="1" dirty="0" err="1"/>
              <a:t>Agregarea</a:t>
            </a:r>
            <a:r>
              <a:rPr lang="en-US" sz="1400" b="1" dirty="0"/>
              <a:t> </a:t>
            </a:r>
            <a:r>
              <a:rPr lang="en-US" sz="1400" b="1" dirty="0" err="1"/>
              <a:t>Datelor</a:t>
            </a:r>
            <a:r>
              <a:rPr lang="en-US" sz="1400" b="1" dirty="0"/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/>
              <a:t>	- Client × An × </a:t>
            </a:r>
            <a:r>
              <a:rPr lang="en-US" sz="1400" i="1" dirty="0" err="1"/>
              <a:t>Regiune</a:t>
            </a:r>
            <a:r>
              <a:rPr lang="en-US" sz="1400" i="1" dirty="0"/>
              <a:t> × Sub-</a:t>
            </a:r>
            <a:r>
              <a:rPr lang="en-US" sz="1400" i="1" dirty="0" err="1"/>
              <a:t>Categorie</a:t>
            </a:r>
            <a:endParaRPr lang="en-US" sz="1400" i="1" dirty="0"/>
          </a:p>
          <a:p>
            <a:pPr marL="0" indent="0">
              <a:buNone/>
            </a:pPr>
            <a:r>
              <a:rPr lang="en-US" sz="1400" dirty="0"/>
              <a:t>➡️ </a:t>
            </a:r>
            <a:r>
              <a:rPr lang="en-US" sz="1400" b="1" dirty="0" err="1">
                <a:solidFill>
                  <a:srgbClr val="002060"/>
                </a:solidFill>
              </a:rPr>
              <a:t>Winsorize</a:t>
            </a:r>
            <a:r>
              <a:rPr lang="en-US" sz="1400" b="1" dirty="0">
                <a:solidFill>
                  <a:srgbClr val="002060"/>
                </a:solidFill>
              </a:rPr>
              <a:t>:</a:t>
            </a:r>
            <a:r>
              <a:rPr lang="en-US" sz="1400" dirty="0">
                <a:solidFill>
                  <a:srgbClr val="002060"/>
                </a:solidFill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2060"/>
                </a:solidFill>
              </a:rPr>
              <a:t>	- </a:t>
            </a:r>
            <a:r>
              <a:rPr lang="en-US" sz="1400" i="1" dirty="0" err="1"/>
              <a:t>percentilele</a:t>
            </a:r>
            <a:r>
              <a:rPr lang="en-US" sz="1400" i="1" dirty="0"/>
              <a:t> 1% </a:t>
            </a:r>
            <a:r>
              <a:rPr lang="en-US" sz="1400" i="1" dirty="0" err="1"/>
              <a:t>si</a:t>
            </a:r>
            <a:r>
              <a:rPr lang="en-US" sz="1400" i="1" dirty="0"/>
              <a:t> 99% 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➡️ </a:t>
            </a:r>
            <a:r>
              <a:rPr lang="en-US" sz="1400" b="1" dirty="0">
                <a:solidFill>
                  <a:srgbClr val="002060"/>
                </a:solidFill>
              </a:rPr>
              <a:t>4 </a:t>
            </a:r>
            <a:r>
              <a:rPr lang="en-US" sz="1400" b="1" dirty="0" err="1">
                <a:solidFill>
                  <a:srgbClr val="002060"/>
                </a:solidFill>
              </a:rPr>
              <a:t>Clustere</a:t>
            </a:r>
            <a:r>
              <a:rPr lang="en-US" sz="1400" b="1" dirty="0">
                <a:solidFill>
                  <a:srgbClr val="002060"/>
                </a:solidFill>
              </a:rPr>
              <a:t> (K-Means)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b="1" i="1" dirty="0">
                <a:solidFill>
                  <a:srgbClr val="002060"/>
                </a:solidFill>
              </a:rPr>
              <a:t>	- </a:t>
            </a:r>
            <a:r>
              <a:rPr lang="en-US" sz="1400" i="1" dirty="0" err="1">
                <a:solidFill>
                  <a:srgbClr val="002060"/>
                </a:solidFill>
              </a:rPr>
              <a:t>p</a:t>
            </a:r>
            <a:r>
              <a:rPr lang="en-US" sz="1400" i="1" dirty="0" err="1"/>
              <a:t>rofitabili</a:t>
            </a:r>
            <a:endParaRPr lang="en-US" sz="14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US" sz="1400" i="1" dirty="0"/>
              <a:t>- discount mare</a:t>
            </a:r>
            <a:endParaRPr lang="en-US" sz="14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US" sz="1400" i="1" dirty="0"/>
              <a:t>- </a:t>
            </a:r>
            <a:r>
              <a:rPr lang="en-US" sz="1400" i="1" dirty="0" err="1"/>
              <a:t>ocasionali</a:t>
            </a:r>
            <a:endParaRPr lang="en-US" sz="14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US" sz="1400" i="1" dirty="0"/>
              <a:t>- </a:t>
            </a:r>
            <a:r>
              <a:rPr lang="en-US" sz="1400" i="1" dirty="0" err="1"/>
              <a:t>volum</a:t>
            </a:r>
            <a:r>
              <a:rPr lang="en-US" sz="1400" i="1" dirty="0"/>
              <a:t> mare, </a:t>
            </a:r>
            <a:r>
              <a:rPr lang="en-US" sz="1400" i="1" dirty="0" err="1"/>
              <a:t>marja</a:t>
            </a:r>
            <a:r>
              <a:rPr lang="en-US" sz="1400" i="1" dirty="0"/>
              <a:t> </a:t>
            </a:r>
            <a:r>
              <a:rPr lang="en-US" sz="1400" i="1" dirty="0" err="1"/>
              <a:t>medie</a:t>
            </a:r>
            <a:endParaRPr lang="en-US" sz="1400" i="1" dirty="0"/>
          </a:p>
          <a:p>
            <a:pPr marL="57150" indent="0">
              <a:spcBef>
                <a:spcPts val="0"/>
              </a:spcBef>
              <a:buNone/>
            </a:pPr>
            <a:r>
              <a:rPr lang="en-US" sz="1400" dirty="0"/>
              <a:t>➡️ </a:t>
            </a:r>
            <a:r>
              <a:rPr lang="en-US" sz="1400" b="1" dirty="0" err="1">
                <a:solidFill>
                  <a:srgbClr val="002060"/>
                </a:solidFill>
              </a:rPr>
              <a:t>HistGBRegressor</a:t>
            </a:r>
            <a:endParaRPr lang="en-US" sz="1400" b="1" dirty="0">
              <a:solidFill>
                <a:srgbClr val="002060"/>
              </a:solidFill>
            </a:endParaRPr>
          </a:p>
          <a:p>
            <a:pPr marL="57150" indent="0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002060"/>
                </a:solidFill>
              </a:rPr>
              <a:t>	</a:t>
            </a:r>
            <a:r>
              <a:rPr lang="en-US" sz="1400" b="1" i="1" dirty="0">
                <a:solidFill>
                  <a:srgbClr val="002060"/>
                </a:solidFill>
              </a:rPr>
              <a:t>- </a:t>
            </a:r>
            <a:r>
              <a:rPr lang="en-US" sz="1400" i="1" dirty="0" err="1"/>
              <a:t>max_iter</a:t>
            </a:r>
            <a:r>
              <a:rPr lang="en-US" sz="1400" i="1" dirty="0"/>
              <a:t>=1500, </a:t>
            </a:r>
            <a:r>
              <a:rPr lang="en-US" sz="1400" i="1" dirty="0" err="1"/>
              <a:t>max_depth</a:t>
            </a:r>
            <a:r>
              <a:rPr lang="en-US" sz="1400" i="1" dirty="0"/>
              <a:t>=5</a:t>
            </a:r>
          </a:p>
          <a:p>
            <a:pPr marL="57150" indent="0">
              <a:spcBef>
                <a:spcPts val="0"/>
              </a:spcBef>
              <a:buNone/>
            </a:pPr>
            <a:r>
              <a:rPr lang="en-US" sz="1400" i="1" dirty="0"/>
              <a:t>	- </a:t>
            </a:r>
            <a:r>
              <a:rPr lang="en-US" sz="1400" i="1" dirty="0" err="1"/>
              <a:t>learning_rate</a:t>
            </a:r>
            <a:r>
              <a:rPr lang="en-US" sz="1400" i="1" dirty="0"/>
              <a:t>=0.01</a:t>
            </a:r>
          </a:p>
          <a:p>
            <a:pPr marL="57150" indent="0">
              <a:spcBef>
                <a:spcPts val="0"/>
              </a:spcBef>
              <a:buNone/>
            </a:pPr>
            <a:r>
              <a:rPr lang="en-US" sz="1400" i="1" dirty="0"/>
              <a:t>	- early-stopping pe </a:t>
            </a:r>
            <a:r>
              <a:rPr lang="en-US" sz="1400" i="1" dirty="0" err="1"/>
              <a:t>neg_mae</a:t>
            </a:r>
            <a:endParaRPr lang="en-US" sz="1400" b="1" dirty="0">
              <a:solidFill>
                <a:srgbClr val="002060"/>
              </a:solidFill>
            </a:endParaRPr>
          </a:p>
          <a:p>
            <a:pPr lvl="1">
              <a:spcBef>
                <a:spcPts val="0"/>
              </a:spcBef>
            </a:pPr>
            <a:endParaRPr lang="en-US" sz="1400" b="1" dirty="0"/>
          </a:p>
          <a:p>
            <a:pPr marL="0" indent="0">
              <a:buNone/>
            </a:pPr>
            <a:endParaRPr lang="en-US" sz="14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8299CAA-F949-E934-3A2C-C22BEF974D74}"/>
              </a:ext>
            </a:extLst>
          </p:cNvPr>
          <p:cNvGrpSpPr/>
          <p:nvPr/>
        </p:nvGrpSpPr>
        <p:grpSpPr>
          <a:xfrm>
            <a:off x="0" y="1"/>
            <a:ext cx="9144000" cy="588501"/>
            <a:chOff x="0" y="0"/>
            <a:chExt cx="9144000" cy="658368"/>
          </a:xfrm>
        </p:grpSpPr>
        <p:sp>
          <p:nvSpPr>
            <p:cNvPr id="3" name="Shape 0">
              <a:extLst>
                <a:ext uri="{FF2B5EF4-FFF2-40B4-BE49-F238E27FC236}">
                  <a16:creationId xmlns:a16="http://schemas.microsoft.com/office/drawing/2014/main" id="{CB8B4E62-2D15-C02F-A2E5-BAC41B984225}"/>
                </a:ext>
              </a:extLst>
            </p:cNvPr>
            <p:cNvSpPr/>
            <p:nvPr/>
          </p:nvSpPr>
          <p:spPr>
            <a:xfrm>
              <a:off x="0" y="0"/>
              <a:ext cx="9144000" cy="658368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itle 1">
              <a:extLst>
                <a:ext uri="{FF2B5EF4-FFF2-40B4-BE49-F238E27FC236}">
                  <a16:creationId xmlns:a16="http://schemas.microsoft.com/office/drawing/2014/main" id="{769F40F2-1E39-67BD-2F10-1ABA87E031B6}"/>
                </a:ext>
              </a:extLst>
            </p:cNvPr>
            <p:cNvSpPr txBox="1">
              <a:spLocks/>
            </p:cNvSpPr>
            <p:nvPr/>
          </p:nvSpPr>
          <p:spPr>
            <a:xfrm>
              <a:off x="254000" y="76200"/>
              <a:ext cx="8796866" cy="464158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n-US" sz="4000" b="1" dirty="0">
                  <a:solidFill>
                    <a:schemeClr val="bg1"/>
                  </a:solidFill>
                </a:rPr>
                <a:t>Model</a:t>
              </a:r>
              <a:endParaRPr lang="en-US" sz="4000" b="1" dirty="0">
                <a:solidFill>
                  <a:schemeClr val="bg1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1278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119A913-AD32-845D-6425-D8C982F32AB1}"/>
              </a:ext>
            </a:extLst>
          </p:cNvPr>
          <p:cNvSpPr txBox="1"/>
          <p:nvPr/>
        </p:nvSpPr>
        <p:spPr>
          <a:xfrm>
            <a:off x="381000" y="928130"/>
            <a:ext cx="854286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METRICA                          		| TEST (2014-16)         		| BLIND (2017)          </a:t>
            </a:r>
          </a:p>
          <a:p>
            <a:r>
              <a:rPr lang="en-US" sz="1400" dirty="0"/>
              <a:t>-----------------------------------------------------------------------------------------------------------------------</a:t>
            </a:r>
          </a:p>
          <a:p>
            <a:r>
              <a:rPr lang="en-US" sz="1400" dirty="0"/>
              <a:t>Expert per-segment             	R2=0.8106 MAE=$11.99  		|  R2=0.3916 MAE=$18.22</a:t>
            </a:r>
          </a:p>
          <a:p>
            <a:r>
              <a:rPr lang="en-US" sz="1400" dirty="0"/>
              <a:t>Meta-model global             	R2=0.9543 MAE=$6.93  		|  R2=0.9801 MAE=$6.81</a:t>
            </a:r>
          </a:p>
          <a:p>
            <a:r>
              <a:rPr lang="en-US" sz="1400" dirty="0"/>
              <a:t>BLEND FINAL                    		</a:t>
            </a:r>
            <a:r>
              <a:rPr lang="en-US" sz="1400" b="1" dirty="0">
                <a:highlight>
                  <a:srgbClr val="00FF00"/>
                </a:highlight>
              </a:rPr>
              <a:t>R2=0.9275 MAE=$8.31  </a:t>
            </a:r>
            <a:r>
              <a:rPr lang="en-US" sz="1400" dirty="0"/>
              <a:t>		|  </a:t>
            </a:r>
            <a:r>
              <a:rPr lang="en-US" sz="1400" b="1" dirty="0">
                <a:highlight>
                  <a:srgbClr val="00FF00"/>
                </a:highlight>
              </a:rPr>
              <a:t>R2=0.8184 MAE=$11.79</a:t>
            </a:r>
          </a:p>
          <a:p>
            <a:r>
              <a:rPr lang="en-US" sz="1400" dirty="0"/>
              <a:t>✅ Gap R² (test - blind): 10.91%; </a:t>
            </a:r>
            <a:r>
              <a:rPr lang="en-US" sz="1400" dirty="0" err="1"/>
              <a:t>modelul</a:t>
            </a:r>
            <a:r>
              <a:rPr lang="en-US" sz="1400" dirty="0"/>
              <a:t> </a:t>
            </a:r>
            <a:r>
              <a:rPr lang="en-US" sz="1400" dirty="0" err="1"/>
              <a:t>este</a:t>
            </a:r>
            <a:r>
              <a:rPr lang="en-US" sz="1400" dirty="0"/>
              <a:t> </a:t>
            </a:r>
            <a:r>
              <a:rPr lang="en-US" sz="1400" dirty="0" err="1"/>
              <a:t>stabil</a:t>
            </a:r>
            <a:r>
              <a:rPr lang="en-US" sz="1400" dirty="0"/>
              <a:t>, nu </a:t>
            </a:r>
            <a:r>
              <a:rPr lang="en-US" sz="1400" dirty="0" err="1"/>
              <a:t>exista</a:t>
            </a:r>
            <a:r>
              <a:rPr lang="en-US" sz="1400" dirty="0"/>
              <a:t> overfitting!!</a:t>
            </a:r>
            <a:endParaRPr lang="en-US" sz="1400" b="1" dirty="0">
              <a:highlight>
                <a:srgbClr val="00FF00"/>
              </a:highligh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DB776-E74C-6ACB-5D2F-5A692BB520FF}"/>
              </a:ext>
            </a:extLst>
          </p:cNvPr>
          <p:cNvSpPr txBox="1"/>
          <p:nvPr/>
        </p:nvSpPr>
        <p:spPr>
          <a:xfrm>
            <a:off x="381000" y="2508145"/>
            <a:ext cx="772583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PERFORMANTA PE ANI (diagnostic temporal):</a:t>
            </a:r>
          </a:p>
          <a:p>
            <a:r>
              <a:rPr lang="en-US" dirty="0"/>
              <a:t> </a:t>
            </a:r>
            <a:r>
              <a:rPr lang="en-US" sz="1000" dirty="0"/>
              <a:t>2014 [train]  	</a:t>
            </a:r>
            <a:r>
              <a:rPr lang="en-US" sz="1000" b="1" dirty="0">
                <a:highlight>
                  <a:srgbClr val="00FF00"/>
                </a:highlight>
              </a:rPr>
              <a:t>R2= 0.8633 	</a:t>
            </a:r>
            <a:r>
              <a:rPr lang="en-US" sz="1000" dirty="0"/>
              <a:t>| </a:t>
            </a:r>
            <a:r>
              <a:rPr lang="en-US" sz="1000" b="1" dirty="0">
                <a:highlight>
                  <a:srgbClr val="00FF00"/>
                </a:highlight>
              </a:rPr>
              <a:t>MAE=   7.75$ 	</a:t>
            </a:r>
            <a:r>
              <a:rPr lang="en-US" sz="1000" dirty="0"/>
              <a:t>| </a:t>
            </a:r>
            <a:r>
              <a:rPr lang="en-US" sz="1000" dirty="0" err="1"/>
              <a:t>MedMAE</a:t>
            </a:r>
            <a:r>
              <a:rPr lang="en-US" sz="1000" dirty="0"/>
              <a:t>=   0.49$ | Profit </a:t>
            </a:r>
            <a:r>
              <a:rPr lang="en-US" sz="1000" dirty="0" err="1"/>
              <a:t>mediu</a:t>
            </a:r>
            <a:r>
              <a:rPr lang="en-US" sz="1000" dirty="0"/>
              <a:t>=   27.00$</a:t>
            </a:r>
          </a:p>
          <a:p>
            <a:r>
              <a:rPr lang="en-US" sz="1000" dirty="0"/>
              <a:t>  2015 [train] 	</a:t>
            </a:r>
            <a:r>
              <a:rPr lang="en-US" sz="1000" b="1" dirty="0">
                <a:highlight>
                  <a:srgbClr val="00FF00"/>
                </a:highlight>
              </a:rPr>
              <a:t>R2= 0.9763  	</a:t>
            </a:r>
            <a:r>
              <a:rPr lang="en-US" sz="1000" dirty="0"/>
              <a:t>| </a:t>
            </a:r>
            <a:r>
              <a:rPr lang="en-US" sz="1000" b="1" dirty="0">
                <a:highlight>
                  <a:srgbClr val="00FF00"/>
                </a:highlight>
              </a:rPr>
              <a:t>MAE=   4.90$	</a:t>
            </a:r>
            <a:r>
              <a:rPr lang="en-US" sz="1000" dirty="0"/>
              <a:t>| </a:t>
            </a:r>
            <a:r>
              <a:rPr lang="en-US" sz="1000" dirty="0" err="1"/>
              <a:t>MedMAE</a:t>
            </a:r>
            <a:r>
              <a:rPr lang="en-US" sz="1000" dirty="0"/>
              <a:t>=   0.50$ | Profit </a:t>
            </a:r>
            <a:r>
              <a:rPr lang="en-US" sz="1000" dirty="0" err="1"/>
              <a:t>mediu</a:t>
            </a:r>
            <a:r>
              <a:rPr lang="en-US" sz="1000" dirty="0"/>
              <a:t>=   31.83$</a:t>
            </a:r>
          </a:p>
          <a:p>
            <a:r>
              <a:rPr lang="en-US" sz="1000" dirty="0"/>
              <a:t>  2016 [train] 	</a:t>
            </a:r>
            <a:r>
              <a:rPr lang="en-US" sz="1000" b="1" dirty="0">
                <a:highlight>
                  <a:srgbClr val="00FF00"/>
                </a:highlight>
              </a:rPr>
              <a:t>R2= 0.8321  	</a:t>
            </a:r>
            <a:r>
              <a:rPr lang="en-US" sz="1000" dirty="0"/>
              <a:t>| </a:t>
            </a:r>
            <a:r>
              <a:rPr lang="en-US" sz="1000" b="1" dirty="0">
                <a:highlight>
                  <a:srgbClr val="00FF00"/>
                </a:highlight>
              </a:rPr>
              <a:t>MAE=   9.05$ 	</a:t>
            </a:r>
            <a:r>
              <a:rPr lang="en-US" sz="1000" dirty="0"/>
              <a:t>| </a:t>
            </a:r>
            <a:r>
              <a:rPr lang="en-US" sz="1000" dirty="0" err="1"/>
              <a:t>MedMAE</a:t>
            </a:r>
            <a:r>
              <a:rPr lang="en-US" sz="1000" dirty="0"/>
              <a:t>=   0.45$ | Profit </a:t>
            </a:r>
            <a:r>
              <a:rPr lang="en-US" sz="1000" dirty="0" err="1"/>
              <a:t>mediu</a:t>
            </a:r>
            <a:r>
              <a:rPr lang="en-US" sz="1000" dirty="0"/>
              <a:t>=   34.34$</a:t>
            </a:r>
          </a:p>
          <a:p>
            <a:r>
              <a:rPr lang="en-US" sz="1000" dirty="0"/>
              <a:t>  2017 [blind] 	</a:t>
            </a:r>
            <a:r>
              <a:rPr lang="en-US" sz="1000" b="1" dirty="0">
                <a:highlight>
                  <a:srgbClr val="00FF00"/>
                </a:highlight>
              </a:rPr>
              <a:t>R2= 0.8184 	</a:t>
            </a:r>
            <a:r>
              <a:rPr lang="en-US" sz="1000" dirty="0"/>
              <a:t>| </a:t>
            </a:r>
            <a:r>
              <a:rPr lang="en-US" sz="1000" b="1" dirty="0">
                <a:highlight>
                  <a:srgbClr val="00FF00"/>
                </a:highlight>
              </a:rPr>
              <a:t>MAE=  11.79$ 	</a:t>
            </a:r>
            <a:r>
              <a:rPr lang="en-US" sz="1000" dirty="0"/>
              <a:t>| </a:t>
            </a:r>
            <a:r>
              <a:rPr lang="en-US" sz="1000" dirty="0" err="1"/>
              <a:t>MedMAE</a:t>
            </a:r>
            <a:r>
              <a:rPr lang="en-US" sz="1000" dirty="0"/>
              <a:t>=   0.74$ | Profit </a:t>
            </a:r>
            <a:r>
              <a:rPr lang="en-US" sz="1000" dirty="0" err="1"/>
              <a:t>mediu</a:t>
            </a:r>
            <a:r>
              <a:rPr lang="en-US" sz="1000" dirty="0"/>
              <a:t>=   31.93$</a:t>
            </a:r>
          </a:p>
          <a:p>
            <a:endParaRPr lang="en-US" sz="12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73AE59-4FB7-FB1C-93CC-F292756490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234" y="3736579"/>
            <a:ext cx="8373532" cy="3121421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39D4E2E-F97C-A224-011D-1BC6DF040CAA}"/>
              </a:ext>
            </a:extLst>
          </p:cNvPr>
          <p:cNvGrpSpPr/>
          <p:nvPr/>
        </p:nvGrpSpPr>
        <p:grpSpPr>
          <a:xfrm>
            <a:off x="0" y="1"/>
            <a:ext cx="9144000" cy="604568"/>
            <a:chOff x="0" y="0"/>
            <a:chExt cx="9144000" cy="658368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E1C6C19C-9E4E-E795-67B9-1C662F47A788}"/>
                </a:ext>
              </a:extLst>
            </p:cNvPr>
            <p:cNvSpPr/>
            <p:nvPr/>
          </p:nvSpPr>
          <p:spPr>
            <a:xfrm>
              <a:off x="0" y="0"/>
              <a:ext cx="9144000" cy="658368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284EDDA4-0C06-080A-A03B-054DE7E30B0F}"/>
                </a:ext>
              </a:extLst>
            </p:cNvPr>
            <p:cNvSpPr txBox="1">
              <a:spLocks/>
            </p:cNvSpPr>
            <p:nvPr/>
          </p:nvSpPr>
          <p:spPr>
            <a:xfrm>
              <a:off x="254000" y="76200"/>
              <a:ext cx="8796866" cy="464158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n-US" sz="4000" b="1" dirty="0" err="1">
                  <a:solidFill>
                    <a:schemeClr val="bg1"/>
                  </a:solidFill>
                </a:rPr>
                <a:t>Rezulte</a:t>
              </a:r>
              <a:r>
                <a:rPr lang="en-US" sz="4000" b="1" dirty="0">
                  <a:solidFill>
                    <a:schemeClr val="bg1"/>
                  </a:solidFill>
                </a:rPr>
                <a:t>: </a:t>
              </a:r>
              <a:r>
                <a:rPr lang="en-US" sz="3600" b="1" dirty="0" err="1">
                  <a:solidFill>
                    <a:schemeClr val="bg1"/>
                  </a:solidFill>
                </a:rPr>
                <a:t>Performanta</a:t>
              </a:r>
              <a:r>
                <a:rPr lang="en-US" sz="4000" b="1" dirty="0">
                  <a:solidFill>
                    <a:schemeClr val="bg1"/>
                  </a:solidFill>
                </a:rPr>
                <a:t> </a:t>
              </a:r>
              <a:r>
                <a:rPr lang="en-US" sz="4000" b="1" dirty="0" err="1">
                  <a:solidFill>
                    <a:schemeClr val="bg1"/>
                  </a:solidFill>
                </a:rPr>
                <a:t>si</a:t>
              </a:r>
              <a:r>
                <a:rPr lang="en-US" sz="4000" b="1" dirty="0">
                  <a:solidFill>
                    <a:schemeClr val="bg1"/>
                  </a:solidFill>
                </a:rPr>
                <a:t> </a:t>
              </a:r>
              <a:r>
                <a:rPr lang="en-US" sz="4000" b="1" dirty="0" err="1">
                  <a:solidFill>
                    <a:schemeClr val="bg1"/>
                  </a:solidFill>
                </a:rPr>
                <a:t>Validare</a:t>
              </a:r>
              <a:endParaRPr lang="en-US" sz="4000" b="1" dirty="0">
                <a:solidFill>
                  <a:schemeClr val="bg1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34948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E435E-34B9-5E5D-304B-E8BCAAE9E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0" y="1049867"/>
            <a:ext cx="8229600" cy="4754563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/>
              <a:t>➡️ </a:t>
            </a:r>
            <a:r>
              <a:rPr lang="en-US" sz="1600" b="1" dirty="0" err="1"/>
              <a:t>Automatizare</a:t>
            </a:r>
            <a:r>
              <a:rPr lang="en-US" sz="1600" b="1" dirty="0"/>
              <a:t>:</a:t>
            </a:r>
            <a:r>
              <a:rPr lang="en-US" sz="1600" dirty="0"/>
              <a:t> 	</a:t>
            </a:r>
            <a:r>
              <a:rPr lang="en-US" sz="1600" dirty="0" err="1"/>
              <a:t>Modelul</a:t>
            </a:r>
            <a:r>
              <a:rPr lang="en-US" sz="1600" dirty="0"/>
              <a:t> </a:t>
            </a:r>
            <a:r>
              <a:rPr lang="en-US" sz="1600" dirty="0" err="1"/>
              <a:t>poate</a:t>
            </a:r>
            <a:r>
              <a:rPr lang="en-US" sz="1600" dirty="0"/>
              <a:t> fi </a:t>
            </a:r>
            <a:r>
              <a:rPr lang="en-US" sz="1600" dirty="0" err="1"/>
              <a:t>integrat</a:t>
            </a:r>
            <a:r>
              <a:rPr lang="en-US" sz="1600" dirty="0"/>
              <a:t> </a:t>
            </a:r>
            <a:r>
              <a:rPr lang="en-US" sz="1600" dirty="0" err="1"/>
              <a:t>intr</a:t>
            </a:r>
            <a:r>
              <a:rPr lang="en-US" sz="1600" dirty="0"/>
              <a:t>-un </a:t>
            </a:r>
            <a:r>
              <a:rPr lang="en-US" sz="1600" dirty="0" err="1"/>
              <a:t>sistem</a:t>
            </a:r>
            <a:r>
              <a:rPr lang="en-US" sz="1600" dirty="0"/>
              <a:t> de </a:t>
            </a:r>
            <a:r>
              <a:rPr lang="en-US" sz="1600" b="1" dirty="0" err="1"/>
              <a:t>aprobare</a:t>
            </a:r>
            <a:r>
              <a:rPr lang="en-US" sz="1600" b="1" dirty="0"/>
              <a:t> a </a:t>
            </a:r>
            <a:r>
              <a:rPr lang="en-US" sz="1600" b="1" dirty="0" err="1"/>
              <a:t>discounturilor</a:t>
            </a:r>
            <a:endParaRPr lang="en-US" sz="16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/>
              <a:t>➡️ </a:t>
            </a:r>
            <a:r>
              <a:rPr lang="en-US" sz="1600" b="1" dirty="0" err="1"/>
              <a:t>Predictibilitate</a:t>
            </a:r>
            <a:r>
              <a:rPr lang="en-US" sz="1600" b="1" dirty="0"/>
              <a:t>:</a:t>
            </a:r>
            <a:r>
              <a:rPr lang="en-US" sz="1600" dirty="0"/>
              <a:t> 	</a:t>
            </a:r>
            <a:r>
              <a:rPr lang="en-US" sz="1600" dirty="0" err="1"/>
              <a:t>Identificarea</a:t>
            </a:r>
            <a:r>
              <a:rPr lang="en-US" sz="1600" dirty="0"/>
              <a:t> </a:t>
            </a:r>
            <a:r>
              <a:rPr lang="en-US" sz="1600" dirty="0" err="1"/>
              <a:t>timpurie</a:t>
            </a:r>
            <a:r>
              <a:rPr lang="en-US" sz="1600" dirty="0"/>
              <a:t> a </a:t>
            </a:r>
            <a:r>
              <a:rPr lang="en-US" sz="1600" dirty="0" err="1"/>
              <a:t>segmentelor</a:t>
            </a:r>
            <a:r>
              <a:rPr lang="en-US" sz="1600" dirty="0"/>
              <a:t> de </a:t>
            </a:r>
            <a:r>
              <a:rPr lang="en-US" sz="1600" b="1" dirty="0" err="1"/>
              <a:t>clienti</a:t>
            </a:r>
            <a:r>
              <a:rPr lang="en-US" sz="1600" b="1" dirty="0"/>
              <a:t> care </a:t>
            </a:r>
            <a:r>
              <a:rPr lang="en-US" sz="1600" b="1" dirty="0" err="1"/>
              <a:t>erodeaza</a:t>
            </a:r>
            <a:r>
              <a:rPr lang="en-US" sz="1600" b="1" dirty="0"/>
              <a:t> </a:t>
            </a:r>
            <a:r>
              <a:rPr lang="en-US" sz="1600" b="1" dirty="0" err="1"/>
              <a:t>profitul</a:t>
            </a:r>
            <a:endParaRPr lang="en-US" sz="16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/>
              <a:t>➡️ </a:t>
            </a:r>
            <a:r>
              <a:rPr lang="en-US" sz="1600" b="1" dirty="0" err="1"/>
              <a:t>Scalabilitate</a:t>
            </a:r>
            <a:r>
              <a:rPr lang="en-US" sz="1600" b="1" dirty="0"/>
              <a:t>:</a:t>
            </a:r>
            <a:r>
              <a:rPr lang="en-US" sz="1600" dirty="0"/>
              <a:t> 	Logica </a:t>
            </a:r>
            <a:r>
              <a:rPr lang="en-US" sz="1600" dirty="0" err="1"/>
              <a:t>poate</a:t>
            </a:r>
            <a:r>
              <a:rPr lang="en-US" sz="1600" dirty="0"/>
              <a:t> fi </a:t>
            </a:r>
            <a:r>
              <a:rPr lang="en-US" sz="1600" dirty="0" err="1"/>
              <a:t>extinsa</a:t>
            </a:r>
            <a:r>
              <a:rPr lang="en-US" sz="1600" dirty="0"/>
              <a:t> la </a:t>
            </a:r>
            <a:r>
              <a:rPr lang="en-US" sz="1600" b="1" dirty="0" err="1"/>
              <a:t>noi</a:t>
            </a:r>
            <a:r>
              <a:rPr lang="en-US" sz="1600" b="1" dirty="0"/>
              <a:t> </a:t>
            </a:r>
            <a:r>
              <a:rPr lang="en-US" sz="1600" b="1" dirty="0" err="1"/>
              <a:t>regiuni</a:t>
            </a:r>
            <a:r>
              <a:rPr lang="en-US" sz="1600" b="1" dirty="0"/>
              <a:t> </a:t>
            </a:r>
            <a:r>
              <a:rPr lang="en-US" sz="1600" b="1" dirty="0" err="1"/>
              <a:t>sau</a:t>
            </a:r>
            <a:r>
              <a:rPr lang="en-US" sz="1600" b="1" dirty="0"/>
              <a:t> </a:t>
            </a:r>
            <a:r>
              <a:rPr lang="en-US" sz="1600" b="1" dirty="0" err="1"/>
              <a:t>categorii</a:t>
            </a:r>
            <a:r>
              <a:rPr lang="en-US" sz="1600" b="1" dirty="0"/>
              <a:t> de </a:t>
            </a:r>
            <a:r>
              <a:rPr lang="en-US" sz="1600" b="1" dirty="0" err="1"/>
              <a:t>produse</a:t>
            </a:r>
            <a:endParaRPr lang="en-US" sz="1600" dirty="0"/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1AB67C7-3A20-157B-3FB7-D8493A86CE56}"/>
              </a:ext>
            </a:extLst>
          </p:cNvPr>
          <p:cNvGrpSpPr/>
          <p:nvPr/>
        </p:nvGrpSpPr>
        <p:grpSpPr>
          <a:xfrm>
            <a:off x="0" y="1"/>
            <a:ext cx="9144000" cy="604568"/>
            <a:chOff x="0" y="0"/>
            <a:chExt cx="9144000" cy="658368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7A450920-499B-B4F4-48C8-5B22B9FA83AE}"/>
                </a:ext>
              </a:extLst>
            </p:cNvPr>
            <p:cNvSpPr/>
            <p:nvPr/>
          </p:nvSpPr>
          <p:spPr>
            <a:xfrm>
              <a:off x="0" y="0"/>
              <a:ext cx="9144000" cy="658368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A5895E1D-4BD5-7E40-A639-B234AA8D2E3D}"/>
                </a:ext>
              </a:extLst>
            </p:cNvPr>
            <p:cNvSpPr txBox="1">
              <a:spLocks/>
            </p:cNvSpPr>
            <p:nvPr/>
          </p:nvSpPr>
          <p:spPr>
            <a:xfrm>
              <a:off x="254000" y="76200"/>
              <a:ext cx="8796866" cy="464158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n-US" sz="4000" b="1" dirty="0" err="1">
                  <a:solidFill>
                    <a:schemeClr val="bg1"/>
                  </a:solidFill>
                </a:rPr>
                <a:t>Concluzii</a:t>
              </a:r>
              <a:r>
                <a:rPr lang="en-US" sz="4000" b="1" dirty="0">
                  <a:solidFill>
                    <a:schemeClr val="bg1"/>
                  </a:solidFill>
                </a:rPr>
                <a:t> </a:t>
              </a:r>
              <a:r>
                <a:rPr lang="en-US" sz="4000" b="1" dirty="0" err="1">
                  <a:solidFill>
                    <a:schemeClr val="bg1"/>
                  </a:solidFill>
                </a:rPr>
                <a:t>si</a:t>
              </a:r>
              <a:r>
                <a:rPr lang="en-US" sz="4000" b="1" dirty="0">
                  <a:solidFill>
                    <a:schemeClr val="bg1"/>
                  </a:solidFill>
                </a:rPr>
                <a:t> </a:t>
              </a:r>
              <a:r>
                <a:rPr lang="en-US" sz="4000" b="1" dirty="0" err="1">
                  <a:solidFill>
                    <a:schemeClr val="bg1"/>
                  </a:solidFill>
                </a:rPr>
                <a:t>Implementare</a:t>
              </a:r>
              <a:r>
                <a:rPr lang="en-US" sz="4000" b="1" dirty="0">
                  <a:solidFill>
                    <a:schemeClr val="bg1"/>
                  </a:solidFill>
                </a:rPr>
                <a:t> in Business</a:t>
              </a:r>
              <a:endParaRPr lang="en-US" sz="4000" b="1" dirty="0">
                <a:solidFill>
                  <a:schemeClr val="bg1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619268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</TotalTime>
  <Words>991</Words>
  <Application>Microsoft Office PowerPoint</Application>
  <PresentationFormat>On-screen Show (4:3)</PresentationFormat>
  <Paragraphs>110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 axente</cp:lastModifiedBy>
  <cp:revision>24</cp:revision>
  <dcterms:created xsi:type="dcterms:W3CDTF">2013-01-27T09:14:16Z</dcterms:created>
  <dcterms:modified xsi:type="dcterms:W3CDTF">2026-03-22T13:56:24Z</dcterms:modified>
  <cp:category/>
</cp:coreProperties>
</file>