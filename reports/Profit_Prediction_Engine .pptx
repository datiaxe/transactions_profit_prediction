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68" r:id="rId4"/>
    <p:sldId id="269" r:id="rId5"/>
    <p:sldId id="267" r:id="rId6"/>
    <p:sldId id="271" r:id="rId7"/>
    <p:sldId id="270" r:id="rId8"/>
    <p:sldId id="258" r:id="rId9"/>
    <p:sldId id="261" r:id="rId10"/>
    <p:sldId id="259" r:id="rId11"/>
    <p:sldId id="272" r:id="rId12"/>
    <p:sldId id="266" r:id="rId13"/>
    <p:sldId id="264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FFFF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802" autoAdjust="0"/>
  </p:normalViewPr>
  <p:slideViewPr>
    <p:cSldViewPr snapToGrid="0" snapToObjects="1">
      <p:cViewPr varScale="1">
        <p:scale>
          <a:sx n="90" d="100"/>
          <a:sy n="90" d="100"/>
        </p:scale>
        <p:origin x="12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75E9C6-9F5A-44CE-9DF6-C0D822160AF0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5F51B1-4B8B-49E0-B82D-E0F10FFCD9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93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5F51B1-4B8B-49E0-B82D-E0F10FFCD95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1317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kaggle.com/datasets/vivek468/superstore-dataset-final/data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>
            <a:spLocks/>
          </p:cNvSpPr>
          <p:nvPr/>
        </p:nvSpPr>
        <p:spPr>
          <a:xfrm>
            <a:off x="1161521" y="1744910"/>
            <a:ext cx="7772400" cy="14647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b="1" dirty="0">
                <a:solidFill>
                  <a:srgbClr val="002060"/>
                </a:solidFill>
              </a:rPr>
              <a:t>Profit Prediction Engine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40348ED-4522-EDFA-BECE-A9BA96C04210}"/>
              </a:ext>
            </a:extLst>
          </p:cNvPr>
          <p:cNvGrpSpPr/>
          <p:nvPr/>
        </p:nvGrpSpPr>
        <p:grpSpPr>
          <a:xfrm>
            <a:off x="0" y="2839160"/>
            <a:ext cx="9144000" cy="2109570"/>
            <a:chOff x="0" y="2929467"/>
            <a:chExt cx="9144000" cy="2662275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142CEAB-F0C9-84EE-1713-F4AA18E4C0A8}"/>
                </a:ext>
              </a:extLst>
            </p:cNvPr>
            <p:cNvSpPr/>
            <p:nvPr/>
          </p:nvSpPr>
          <p:spPr>
            <a:xfrm>
              <a:off x="0" y="2929467"/>
              <a:ext cx="9144000" cy="2662274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Subtitle 2"/>
            <p:cNvSpPr txBox="1">
              <a:spLocks/>
            </p:cNvSpPr>
            <p:nvPr/>
          </p:nvSpPr>
          <p:spPr>
            <a:xfrm>
              <a:off x="4057121" y="4666367"/>
              <a:ext cx="3124200" cy="612775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0" indent="0" algn="ctr" defTabSz="457200" rtl="0" eaLnBrk="1" latinLnBrk="0" hangingPunct="1">
                <a:spcBef>
                  <a:spcPct val="20000"/>
                </a:spcBef>
                <a:buFont typeface="Arial"/>
                <a:buNone/>
                <a:defRPr sz="32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1pPr>
              <a:lvl2pPr marL="457200" indent="0" algn="ctr" defTabSz="457200" rtl="0" eaLnBrk="1" latinLnBrk="0" hangingPunct="1">
                <a:spcBef>
                  <a:spcPct val="20000"/>
                </a:spcBef>
                <a:buFont typeface="Arial"/>
                <a:buNone/>
                <a:defRPr sz="28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2pPr>
              <a:lvl3pPr marL="914400" indent="0" algn="ctr" defTabSz="457200" rtl="0" eaLnBrk="1" latinLnBrk="0" hangingPunct="1">
                <a:spcBef>
                  <a:spcPct val="20000"/>
                </a:spcBef>
                <a:buFont typeface="Arial"/>
                <a:buNone/>
                <a:defRPr sz="24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3pPr>
              <a:lvl4pPr marL="1371600" indent="0" algn="ctr" defTabSz="457200" rtl="0" eaLnBrk="1" latinLnBrk="0" hangingPunct="1">
                <a:spcBef>
                  <a:spcPct val="20000"/>
                </a:spcBef>
                <a:buFont typeface="Arial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4pPr>
              <a:lvl5pPr marL="1828800" indent="0" algn="ctr" defTabSz="457200" rtl="0" eaLnBrk="1" latinLnBrk="0" hangingPunct="1">
                <a:spcBef>
                  <a:spcPct val="20000"/>
                </a:spcBef>
                <a:buFont typeface="Arial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5pPr>
              <a:lvl6pPr marL="2286000" indent="0" algn="ctr" defTabSz="457200" rtl="0" eaLnBrk="1" latinLnBrk="0" hangingPunct="1">
                <a:spcBef>
                  <a:spcPct val="20000"/>
                </a:spcBef>
                <a:buFont typeface="Arial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6pPr>
              <a:lvl7pPr marL="2743200" indent="0" algn="ctr" defTabSz="457200" rtl="0" eaLnBrk="1" latinLnBrk="0" hangingPunct="1">
                <a:spcBef>
                  <a:spcPct val="20000"/>
                </a:spcBef>
                <a:buFont typeface="Arial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7pPr>
              <a:lvl8pPr marL="3200400" indent="0" algn="ctr" defTabSz="457200" rtl="0" eaLnBrk="1" latinLnBrk="0" hangingPunct="1">
                <a:spcBef>
                  <a:spcPct val="20000"/>
                </a:spcBef>
                <a:buFont typeface="Arial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8pPr>
              <a:lvl9pPr marL="3657600" indent="0" algn="ctr" defTabSz="457200" rtl="0" eaLnBrk="1" latinLnBrk="0" hangingPunct="1">
                <a:spcBef>
                  <a:spcPct val="20000"/>
                </a:spcBef>
                <a:buFont typeface="Arial"/>
                <a:buNone/>
                <a:defRPr sz="2000" kern="1200">
                  <a:solidFill>
                    <a:schemeClr val="tx1">
                      <a:tint val="75000"/>
                    </a:schemeClr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US" sz="1100" b="1" dirty="0" err="1">
                  <a:solidFill>
                    <a:srgbClr val="FFFF00"/>
                  </a:solidFill>
                </a:rPr>
                <a:t>Utilizaraa</a:t>
              </a:r>
              <a:r>
                <a:rPr lang="en-US" sz="1100" b="1" dirty="0">
                  <a:solidFill>
                    <a:srgbClr val="FFFF00"/>
                  </a:solidFill>
                </a:rPr>
                <a:t> Machine Learning (</a:t>
              </a:r>
              <a:r>
                <a:rPr lang="en-US" sz="1100" b="1" dirty="0" err="1">
                  <a:solidFill>
                    <a:srgbClr val="FFFF00"/>
                  </a:solidFill>
                </a:rPr>
                <a:t>XGBoost</a:t>
              </a:r>
              <a:r>
                <a:rPr lang="en-US" sz="1100" b="1" dirty="0">
                  <a:solidFill>
                    <a:srgbClr val="FFFF00"/>
                  </a:solidFill>
                </a:rPr>
                <a:t> &amp; MLP) </a:t>
              </a:r>
            </a:p>
            <a:p>
              <a:r>
                <a:rPr lang="en-US" sz="1100" b="1" dirty="0" err="1">
                  <a:solidFill>
                    <a:srgbClr val="FFFF00"/>
                  </a:solidFill>
                </a:rPr>
                <a:t>pentru</a:t>
              </a:r>
              <a:r>
                <a:rPr lang="en-US" sz="1100" b="1" dirty="0">
                  <a:solidFill>
                    <a:srgbClr val="FFFF00"/>
                  </a:solidFill>
                </a:rPr>
                <a:t> </a:t>
              </a:r>
              <a:r>
                <a:rPr lang="en-US" sz="1100" b="1" dirty="0" err="1">
                  <a:solidFill>
                    <a:srgbClr val="FFFF00"/>
                  </a:solidFill>
                </a:rPr>
                <a:t>modelarea</a:t>
              </a:r>
              <a:r>
                <a:rPr lang="en-US" sz="1100" b="1" dirty="0">
                  <a:solidFill>
                    <a:srgbClr val="FFFF00"/>
                  </a:solidFill>
                </a:rPr>
                <a:t> </a:t>
              </a:r>
              <a:r>
                <a:rPr lang="en-US" sz="1100" b="1" dirty="0" err="1">
                  <a:solidFill>
                    <a:srgbClr val="FFFF00"/>
                  </a:solidFill>
                </a:rPr>
                <a:t>profitului</a:t>
              </a:r>
              <a:r>
                <a:rPr lang="en-US" sz="1100" b="1" dirty="0">
                  <a:solidFill>
                    <a:srgbClr val="FFFF00"/>
                  </a:solidFill>
                </a:rPr>
                <a:t> </a:t>
              </a:r>
              <a:r>
                <a:rPr lang="en-US" sz="1100" b="1" dirty="0" err="1">
                  <a:solidFill>
                    <a:srgbClr val="FFFF00"/>
                  </a:solidFill>
                </a:rPr>
                <a:t>previzionat</a:t>
              </a:r>
              <a:endParaRPr lang="en-US" sz="1100" b="1" dirty="0">
                <a:solidFill>
                  <a:srgbClr val="FFFF00"/>
                </a:solidFill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27EE5E3-8E0E-1048-07C5-70ADF4DCDC1E}"/>
                </a:ext>
              </a:extLst>
            </p:cNvPr>
            <p:cNvSpPr txBox="1"/>
            <p:nvPr/>
          </p:nvSpPr>
          <p:spPr>
            <a:xfrm>
              <a:off x="3437466" y="2969968"/>
              <a:ext cx="4529667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400" dirty="0" err="1">
                  <a:solidFill>
                    <a:srgbClr val="002060"/>
                  </a:solidFill>
                </a:rPr>
                <a:t>Putem</a:t>
              </a:r>
              <a:r>
                <a:rPr lang="en-US" sz="2400" dirty="0">
                  <a:solidFill>
                    <a:srgbClr val="002060"/>
                  </a:solidFill>
                </a:rPr>
                <a:t> </a:t>
              </a:r>
              <a:r>
                <a:rPr lang="en-US" sz="2400" dirty="0" err="1">
                  <a:solidFill>
                    <a:srgbClr val="002060"/>
                  </a:solidFill>
                </a:rPr>
                <a:t>prezice</a:t>
              </a:r>
              <a:r>
                <a:rPr lang="en-US" sz="2400" dirty="0">
                  <a:solidFill>
                    <a:srgbClr val="002060"/>
                  </a:solidFill>
                </a:rPr>
                <a:t> </a:t>
              </a:r>
              <a:r>
                <a:rPr lang="en-US" sz="2400" dirty="0" err="1">
                  <a:solidFill>
                    <a:srgbClr val="002060"/>
                  </a:solidFill>
                </a:rPr>
                <a:t>profitul</a:t>
              </a:r>
              <a:r>
                <a:rPr lang="en-US" sz="2400" dirty="0">
                  <a:solidFill>
                    <a:srgbClr val="002060"/>
                  </a:solidFill>
                </a:rPr>
                <a:t> </a:t>
              </a:r>
              <a:r>
                <a:rPr lang="en-US" sz="2400" dirty="0" err="1">
                  <a:solidFill>
                    <a:srgbClr val="002060"/>
                  </a:solidFill>
                </a:rPr>
                <a:t>unei</a:t>
              </a:r>
              <a:r>
                <a:rPr lang="en-US" sz="2400" dirty="0">
                  <a:solidFill>
                    <a:srgbClr val="002060"/>
                  </a:solidFill>
                </a:rPr>
                <a:t> </a:t>
              </a:r>
              <a:r>
                <a:rPr lang="en-US" sz="2400" dirty="0" err="1">
                  <a:solidFill>
                    <a:srgbClr val="002060"/>
                  </a:solidFill>
                </a:rPr>
                <a:t>comenzi</a:t>
              </a:r>
              <a:r>
                <a:rPr lang="en-US" sz="2400" dirty="0">
                  <a:solidFill>
                    <a:srgbClr val="002060"/>
                  </a:solidFill>
                </a:rPr>
                <a:t> de </a:t>
              </a:r>
              <a:r>
                <a:rPr lang="en-US" sz="2400" dirty="0" err="1">
                  <a:solidFill>
                    <a:srgbClr val="002060"/>
                  </a:solidFill>
                </a:rPr>
                <a:t>produse</a:t>
              </a:r>
              <a:r>
                <a:rPr lang="en-US" sz="2400" dirty="0">
                  <a:solidFill>
                    <a:srgbClr val="002060"/>
                  </a:solidFill>
                </a:rPr>
                <a:t> </a:t>
              </a:r>
              <a:br>
                <a:rPr lang="en-US" sz="2400" dirty="0">
                  <a:solidFill>
                    <a:srgbClr val="002060"/>
                  </a:solidFill>
                </a:rPr>
              </a:br>
              <a:r>
                <a:rPr lang="en-US" sz="2400" dirty="0" err="1">
                  <a:solidFill>
                    <a:srgbClr val="002060"/>
                  </a:solidFill>
                </a:rPr>
                <a:t>inainte</a:t>
              </a:r>
              <a:r>
                <a:rPr lang="en-US" sz="2400" dirty="0">
                  <a:solidFill>
                    <a:srgbClr val="002060"/>
                  </a:solidFill>
                </a:rPr>
                <a:t> ca </a:t>
              </a:r>
              <a:r>
                <a:rPr lang="en-US" sz="2400" dirty="0" err="1">
                  <a:solidFill>
                    <a:srgbClr val="002060"/>
                  </a:solidFill>
                </a:rPr>
                <a:t>ea</a:t>
              </a:r>
              <a:r>
                <a:rPr lang="en-US" sz="2400" dirty="0">
                  <a:solidFill>
                    <a:srgbClr val="002060"/>
                  </a:solidFill>
                </a:rPr>
                <a:t> </a:t>
              </a:r>
              <a:r>
                <a:rPr lang="en-US" sz="2400" dirty="0" err="1">
                  <a:solidFill>
                    <a:srgbClr val="002060"/>
                  </a:solidFill>
                </a:rPr>
                <a:t>sa</a:t>
              </a:r>
              <a:r>
                <a:rPr lang="en-US" sz="2400" dirty="0">
                  <a:solidFill>
                    <a:srgbClr val="002060"/>
                  </a:solidFill>
                </a:rPr>
                <a:t> </a:t>
              </a:r>
              <a:r>
                <a:rPr lang="en-US" sz="2400" dirty="0" err="1">
                  <a:solidFill>
                    <a:srgbClr val="002060"/>
                  </a:solidFill>
                </a:rPr>
                <a:t>aiba</a:t>
              </a:r>
              <a:r>
                <a:rPr lang="en-US" sz="2400" dirty="0">
                  <a:solidFill>
                    <a:srgbClr val="002060"/>
                  </a:solidFill>
                </a:rPr>
                <a:t> loc?</a:t>
              </a:r>
              <a:endParaRPr lang="en-US" sz="2400" dirty="0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EA764ABC-6701-B702-DE51-75DC48490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2929467"/>
              <a:ext cx="3369733" cy="26622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 err="1">
                <a:solidFill>
                  <a:srgbClr val="002060"/>
                </a:solidFill>
              </a:rPr>
              <a:t>Obiectivele</a:t>
            </a:r>
            <a:r>
              <a:rPr sz="4000" b="1" dirty="0">
                <a:solidFill>
                  <a:srgbClr val="002060"/>
                </a:solidFill>
              </a:rPr>
              <a:t> </a:t>
            </a:r>
            <a:r>
              <a:rPr sz="4000" b="1" dirty="0" err="1">
                <a:solidFill>
                  <a:srgbClr val="002060"/>
                </a:solidFill>
              </a:rPr>
              <a:t>Proiectului</a:t>
            </a:r>
            <a:endParaRPr sz="40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0800"/>
            <a:ext cx="8229600" cy="4859867"/>
          </a:xfrm>
        </p:spPr>
        <p:txBody>
          <a:bodyPr>
            <a:noAutofit/>
          </a:bodyPr>
          <a:lstStyle/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400" dirty="0"/>
              <a:t>➡️ </a:t>
            </a:r>
            <a:r>
              <a:rPr lang="en-US" altLang="en-US" sz="1400" b="1" dirty="0" err="1">
                <a:latin typeface="Arial" panose="020B0604020202020204" pitchFamily="34" charset="0"/>
              </a:rPr>
              <a:t>Problema</a:t>
            </a:r>
            <a:r>
              <a:rPr lang="en-US" altLang="en-US" sz="1400" b="1" dirty="0">
                <a:latin typeface="Arial" panose="020B0604020202020204" pitchFamily="34" charset="0"/>
              </a:rPr>
              <a:t>: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Predictia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profitului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este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dificila</a:t>
            </a:r>
            <a:r>
              <a:rPr lang="en-US" altLang="en-US" sz="1400" dirty="0">
                <a:latin typeface="Arial" panose="020B0604020202020204" pitchFamily="34" charset="0"/>
              </a:rPr>
              <a:t> din </a:t>
            </a:r>
            <a:r>
              <a:rPr lang="en-US" altLang="en-US" sz="1400" dirty="0" err="1">
                <a:latin typeface="Arial" panose="020B0604020202020204" pitchFamily="34" charset="0"/>
              </a:rPr>
              <a:t>cauza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variatiilor</a:t>
            </a:r>
            <a:r>
              <a:rPr lang="en-US" altLang="en-US" sz="1400" dirty="0">
                <a:latin typeface="Arial" panose="020B0604020202020204" pitchFamily="34" charset="0"/>
              </a:rPr>
              <a:t> de discount </a:t>
            </a:r>
            <a:r>
              <a:rPr lang="en-US" altLang="en-US" sz="1400" dirty="0" err="1">
                <a:latin typeface="Arial" panose="020B0604020202020204" pitchFamily="34" charset="0"/>
              </a:rPr>
              <a:t>si</a:t>
            </a:r>
            <a:r>
              <a:rPr lang="en-US" altLang="en-US" sz="1400" dirty="0">
                <a:latin typeface="Arial" panose="020B0604020202020204" pitchFamily="34" charset="0"/>
              </a:rPr>
              <a:t> </a:t>
            </a:r>
            <a:r>
              <a:rPr lang="en-US" altLang="en-US" sz="1400" dirty="0" err="1">
                <a:latin typeface="Arial" panose="020B0604020202020204" pitchFamily="34" charset="0"/>
              </a:rPr>
              <a:t>sezonalitate</a:t>
            </a:r>
            <a:r>
              <a:rPr lang="en-US" altLang="en-US" sz="1400" dirty="0">
                <a:latin typeface="Arial" panose="020B0604020202020204" pitchFamily="34" charset="0"/>
              </a:rPr>
              <a:t>.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400" dirty="0"/>
              <a:t>➡️ </a:t>
            </a:r>
            <a:r>
              <a:rPr lang="en-US" altLang="en-US" sz="1400" b="1" dirty="0">
                <a:latin typeface="Arial" panose="020B0604020202020204" pitchFamily="34" charset="0"/>
              </a:rPr>
              <a:t>Solutia:</a:t>
            </a:r>
            <a:r>
              <a:rPr lang="en-US" altLang="en-US" sz="1400" dirty="0">
                <a:latin typeface="Arial" panose="020B0604020202020204" pitchFamily="34" charset="0"/>
              </a:rPr>
              <a:t> Un pipeline de date ‘Zero-Leakage’ care </a:t>
            </a:r>
            <a:r>
              <a:rPr lang="en-US" altLang="en-US" sz="1400" dirty="0" err="1">
                <a:latin typeface="Arial" panose="020B0604020202020204" pitchFamily="34" charset="0"/>
              </a:rPr>
              <a:t>separa</a:t>
            </a:r>
            <a:r>
              <a:rPr lang="en-US" altLang="en-US" sz="1400" dirty="0">
                <a:latin typeface="Arial" panose="020B0604020202020204" pitchFamily="34" charset="0"/>
              </a:rPr>
              <a:t> strict </a:t>
            </a:r>
            <a:r>
              <a:rPr lang="en-US" altLang="en-US" sz="1400" dirty="0" err="1">
                <a:latin typeface="Arial" panose="020B0604020202020204" pitchFamily="34" charset="0"/>
              </a:rPr>
              <a:t>istoricul</a:t>
            </a:r>
            <a:r>
              <a:rPr lang="en-US" altLang="en-US" sz="1400" dirty="0">
                <a:latin typeface="Arial" panose="020B0604020202020204" pitchFamily="34" charset="0"/>
              </a:rPr>
              <a:t> de </a:t>
            </a:r>
            <a:r>
              <a:rPr lang="en-US" altLang="en-US" sz="1400" dirty="0" err="1">
                <a:latin typeface="Arial" panose="020B0604020202020204" pitchFamily="34" charset="0"/>
              </a:rPr>
              <a:t>viitor</a:t>
            </a:r>
            <a:r>
              <a:rPr lang="en-US" altLang="en-US" sz="1400" dirty="0">
                <a:latin typeface="Arial" panose="020B0604020202020204" pitchFamily="34" charset="0"/>
              </a:rPr>
              <a:t>.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400" dirty="0"/>
              <a:t>➡️ </a:t>
            </a:r>
            <a:r>
              <a:rPr lang="en-US" altLang="en-US" sz="1400" b="1" dirty="0" err="1">
                <a:latin typeface="Arial" panose="020B0604020202020204" pitchFamily="34" charset="0"/>
              </a:rPr>
              <a:t>Obiectiv</a:t>
            </a:r>
            <a:r>
              <a:rPr lang="en-US" altLang="en-US" sz="1400" b="1" dirty="0">
                <a:latin typeface="Arial" panose="020B0604020202020204" pitchFamily="34" charset="0"/>
              </a:rPr>
              <a:t>: </a:t>
            </a:r>
            <a:r>
              <a:rPr lang="en-US" sz="1400" dirty="0" err="1"/>
              <a:t>Modelare</a:t>
            </a:r>
            <a:r>
              <a:rPr lang="en-US" sz="1400" dirty="0"/>
              <a:t> Machine Learning </a:t>
            </a:r>
            <a:r>
              <a:rPr lang="en-US" sz="1400" dirty="0" err="1"/>
              <a:t>pentru</a:t>
            </a:r>
            <a:r>
              <a:rPr lang="en-US" sz="1400" dirty="0"/>
              <a:t> </a:t>
            </a:r>
            <a:r>
              <a:rPr lang="en-US" sz="1400" dirty="0" err="1"/>
              <a:t>prezicerea</a:t>
            </a:r>
            <a:r>
              <a:rPr lang="en-US" sz="1400" dirty="0"/>
              <a:t> </a:t>
            </a:r>
            <a:r>
              <a:rPr lang="en-US" sz="1400" dirty="0" err="1"/>
              <a:t>profitul</a:t>
            </a:r>
            <a:r>
              <a:rPr lang="en-US" sz="1400" dirty="0"/>
              <a:t> </a:t>
            </a:r>
            <a:r>
              <a:rPr lang="en-US" sz="1400" dirty="0" err="1"/>
              <a:t>viitor</a:t>
            </a:r>
            <a:r>
              <a:rPr lang="en-US" sz="1400" dirty="0"/>
              <a:t> al </a:t>
            </a:r>
            <a:r>
              <a:rPr lang="en-US" sz="1400" dirty="0" err="1"/>
              <a:t>unei</a:t>
            </a:r>
            <a:r>
              <a:rPr lang="en-US" sz="1400" dirty="0"/>
              <a:t> </a:t>
            </a:r>
            <a:r>
              <a:rPr lang="en-US" sz="1400" dirty="0" err="1"/>
              <a:t>comenzi</a:t>
            </a:r>
            <a:r>
              <a:rPr lang="en-US" sz="1400" dirty="0"/>
              <a:t>, </a:t>
            </a:r>
            <a:r>
              <a:rPr lang="en-US" sz="1400" dirty="0" err="1"/>
              <a:t>folosind</a:t>
            </a:r>
            <a:r>
              <a:rPr lang="en-US" sz="1400" dirty="0"/>
              <a:t>:</a:t>
            </a:r>
            <a:br>
              <a:rPr lang="en-US" sz="1400" dirty="0"/>
            </a:br>
            <a:r>
              <a:rPr lang="en-US" sz="1400" dirty="0"/>
              <a:t>	-  </a:t>
            </a:r>
            <a:r>
              <a:rPr lang="en-US" sz="1400" dirty="0" err="1"/>
              <a:t>istoricul</a:t>
            </a:r>
            <a:r>
              <a:rPr lang="en-US" sz="1400" dirty="0"/>
              <a:t> </a:t>
            </a:r>
            <a:r>
              <a:rPr lang="en-US" sz="1400" dirty="0" err="1"/>
              <a:t>clientului</a:t>
            </a:r>
            <a:endParaRPr lang="en-US" sz="1400" dirty="0"/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400" dirty="0"/>
              <a:t>	-  </a:t>
            </a:r>
            <a:r>
              <a:rPr lang="en-US" sz="1400" dirty="0" err="1"/>
              <a:t>tipul</a:t>
            </a:r>
            <a:r>
              <a:rPr lang="en-US" sz="1400" dirty="0"/>
              <a:t> </a:t>
            </a:r>
            <a:r>
              <a:rPr lang="en-US" sz="1400" dirty="0" err="1"/>
              <a:t>produsului</a:t>
            </a:r>
            <a:endParaRPr lang="en-US" sz="1400" dirty="0"/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400" dirty="0"/>
              <a:t>	- discount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400" dirty="0"/>
              <a:t>	- </a:t>
            </a:r>
            <a:r>
              <a:rPr lang="en-US" sz="1400" dirty="0" err="1"/>
              <a:t>regiune</a:t>
            </a:r>
            <a:endParaRPr lang="en-US" sz="1400" dirty="0"/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400" dirty="0"/>
              <a:t>	- </a:t>
            </a:r>
            <a:r>
              <a:rPr lang="en-US" sz="1400" dirty="0" err="1"/>
              <a:t>sezonalitate</a:t>
            </a:r>
            <a:endParaRPr lang="en-US" sz="1400" dirty="0"/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sz="1400" dirty="0"/>
              <a:t>	- </a:t>
            </a:r>
            <a:r>
              <a:rPr lang="en-US" sz="1400" dirty="0" err="1"/>
              <a:t>comportament</a:t>
            </a:r>
            <a:r>
              <a:rPr lang="en-US" sz="1400" dirty="0"/>
              <a:t> client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/>
              <a:t>➡️ </a:t>
            </a:r>
            <a:r>
              <a:rPr lang="en-US" sz="1400" b="1" dirty="0" err="1"/>
              <a:t>Beneficii</a:t>
            </a:r>
            <a:r>
              <a:rPr lang="en-US" sz="1400" b="1" dirty="0"/>
              <a:t>: </a:t>
            </a:r>
            <a:r>
              <a:rPr lang="en-US" sz="1400" dirty="0" err="1"/>
              <a:t>Modelul</a:t>
            </a:r>
            <a:r>
              <a:rPr lang="en-US" sz="1400" dirty="0"/>
              <a:t> </a:t>
            </a:r>
            <a:r>
              <a:rPr lang="en-US" sz="1400" dirty="0" err="1"/>
              <a:t>poate</a:t>
            </a:r>
            <a:r>
              <a:rPr lang="en-US" sz="1400" dirty="0"/>
              <a:t> fi </a:t>
            </a:r>
            <a:r>
              <a:rPr lang="en-US" sz="1400" dirty="0" err="1"/>
              <a:t>folosit</a:t>
            </a:r>
            <a:r>
              <a:rPr lang="en-US" sz="1400" dirty="0"/>
              <a:t> </a:t>
            </a:r>
            <a:r>
              <a:rPr lang="en-US" sz="1400" dirty="0" err="1"/>
              <a:t>pentru</a:t>
            </a:r>
            <a:r>
              <a:rPr lang="en-US" sz="1400" dirty="0"/>
              <a:t>:</a:t>
            </a:r>
          </a:p>
          <a:p>
            <a:pPr marL="800100" lvl="2" indent="0">
              <a:spcAft>
                <a:spcPts val="1000"/>
              </a:spcAft>
              <a:buNone/>
              <a:defRPr sz="2000">
                <a:solidFill>
                  <a:srgbClr val="404040"/>
                </a:solidFill>
                <a:latin typeface="Arial"/>
              </a:defRPr>
            </a:pPr>
            <a:r>
              <a:rPr lang="en-US" sz="1400" dirty="0"/>
              <a:t>- pricing optimization</a:t>
            </a:r>
          </a:p>
          <a:p>
            <a:pPr marL="800100" lvl="2" indent="0">
              <a:spcAft>
                <a:spcPts val="1000"/>
              </a:spcAft>
              <a:buNone/>
              <a:defRPr sz="2000">
                <a:solidFill>
                  <a:srgbClr val="404040"/>
                </a:solidFill>
                <a:latin typeface="Arial"/>
              </a:defRPr>
            </a:pPr>
            <a:r>
              <a:rPr lang="en-US" sz="1400" dirty="0"/>
              <a:t>- discount management</a:t>
            </a:r>
          </a:p>
          <a:p>
            <a:pPr marL="800100" lvl="2" indent="0">
              <a:spcAft>
                <a:spcPts val="1000"/>
              </a:spcAft>
              <a:buNone/>
              <a:defRPr sz="2000">
                <a:solidFill>
                  <a:srgbClr val="404040"/>
                </a:solidFill>
                <a:latin typeface="Arial"/>
              </a:defRPr>
            </a:pPr>
            <a:r>
              <a:rPr lang="en-US" sz="1400" dirty="0"/>
              <a:t>- risk control</a:t>
            </a:r>
            <a:endParaRPr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98158-3815-CA84-0784-C21662FE9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 err="1">
                <a:solidFill>
                  <a:srgbClr val="002060"/>
                </a:solidFill>
              </a:rPr>
              <a:t>Datasetul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utilizat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CA4370-BDB7-C3BB-6439-A39B19416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8800"/>
            <a:ext cx="8229600" cy="29294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➡️ Dataset </a:t>
            </a:r>
          </a:p>
          <a:p>
            <a:pPr marL="0" indent="0">
              <a:buNone/>
            </a:pPr>
            <a:r>
              <a:rPr lang="en-US" sz="1400" dirty="0"/>
              <a:t>	- </a:t>
            </a:r>
            <a:r>
              <a:rPr lang="en-US" sz="1400" dirty="0" err="1"/>
              <a:t>sursa</a:t>
            </a:r>
            <a:r>
              <a:rPr lang="en-US" sz="1400" dirty="0"/>
              <a:t>: ‘superstore dataset’, kaggle.com </a:t>
            </a:r>
          </a:p>
          <a:p>
            <a:pPr marL="0" indent="0">
              <a:buNone/>
            </a:pPr>
            <a:r>
              <a:rPr lang="en-US" sz="1400" dirty="0">
                <a:hlinkClick r:id="rId2"/>
              </a:rPr>
              <a:t>https://www.kaggle.com/datasets/vivek468/superstore-dataset-final/data</a:t>
            </a:r>
            <a:endParaRPr lang="en-US" sz="1400" dirty="0"/>
          </a:p>
          <a:p>
            <a:pPr marL="0" indent="0">
              <a:buNone/>
            </a:pPr>
            <a:r>
              <a:rPr lang="en-US" sz="1400" dirty="0"/>
              <a:t>	- </a:t>
            </a:r>
            <a:r>
              <a:rPr lang="en-US" sz="1400" dirty="0" err="1"/>
              <a:t>randuri</a:t>
            </a:r>
            <a:r>
              <a:rPr lang="en-US" sz="1400" dirty="0"/>
              <a:t>, </a:t>
            </a:r>
            <a:r>
              <a:rPr lang="en-US" sz="1400" dirty="0" err="1"/>
              <a:t>coloane</a:t>
            </a:r>
            <a:r>
              <a:rPr lang="en-US" sz="1400" dirty="0"/>
              <a:t>: (9994, 21),</a:t>
            </a:r>
          </a:p>
          <a:p>
            <a:pPr marL="0" indent="0">
              <a:buNone/>
            </a:pPr>
            <a:r>
              <a:rPr lang="en-US" sz="1400" dirty="0"/>
              <a:t>	- </a:t>
            </a:r>
            <a:r>
              <a:rPr lang="en-US" sz="1400" dirty="0" err="1"/>
              <a:t>order_id</a:t>
            </a:r>
            <a:r>
              <a:rPr lang="en-US" sz="1400" dirty="0"/>
              <a:t> </a:t>
            </a:r>
            <a:r>
              <a:rPr lang="en-US" sz="1400" dirty="0" err="1"/>
              <a:t>unice</a:t>
            </a:r>
            <a:r>
              <a:rPr lang="en-US" sz="1400" dirty="0"/>
              <a:t>: 5009</a:t>
            </a:r>
          </a:p>
          <a:p>
            <a:pPr marL="0" indent="0">
              <a:buNone/>
            </a:pPr>
            <a:r>
              <a:rPr lang="en-US" sz="1400" dirty="0"/>
              <a:t>	- </a:t>
            </a:r>
            <a:r>
              <a:rPr lang="en-US" sz="1400" dirty="0" err="1"/>
              <a:t>celule</a:t>
            </a:r>
            <a:r>
              <a:rPr lang="en-US" sz="1400" dirty="0"/>
              <a:t> cu </a:t>
            </a:r>
            <a:r>
              <a:rPr lang="en-US" sz="1400" dirty="0" err="1"/>
              <a:t>valori</a:t>
            </a:r>
            <a:r>
              <a:rPr lang="en-US" sz="1400" dirty="0"/>
              <a:t> </a:t>
            </a:r>
            <a:r>
              <a:rPr lang="en-US" sz="1400" dirty="0" err="1"/>
              <a:t>nule</a:t>
            </a:r>
            <a:r>
              <a:rPr lang="en-US" sz="1400" dirty="0"/>
              <a:t>: 0</a:t>
            </a:r>
          </a:p>
          <a:p>
            <a:pPr marL="0" indent="0">
              <a:buNone/>
            </a:pPr>
            <a:r>
              <a:rPr lang="en-US" sz="1400" dirty="0"/>
              <a:t>	- </a:t>
            </a:r>
            <a:r>
              <a:rPr lang="en-US" sz="1400" dirty="0" err="1"/>
              <a:t>fiecare</a:t>
            </a:r>
            <a:r>
              <a:rPr lang="en-US" sz="1400" dirty="0"/>
              <a:t> </a:t>
            </a:r>
            <a:r>
              <a:rPr lang="en-US" sz="1400" dirty="0" err="1"/>
              <a:t>customer_id</a:t>
            </a:r>
            <a:r>
              <a:rPr lang="en-US" sz="1400" dirty="0"/>
              <a:t>  are  un  </a:t>
            </a:r>
            <a:r>
              <a:rPr lang="en-US" sz="1400" dirty="0" err="1"/>
              <a:t>customer_name</a:t>
            </a:r>
            <a:r>
              <a:rPr lang="en-US" sz="1400" dirty="0"/>
              <a:t> </a:t>
            </a:r>
            <a:r>
              <a:rPr lang="en-US" sz="1400" dirty="0" err="1"/>
              <a:t>unic</a:t>
            </a:r>
            <a:endParaRPr lang="en-US" sz="14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A05659C-16E4-C6E5-0F06-C1CAAA5C68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032" y="3569238"/>
            <a:ext cx="8123768" cy="518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990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70455-61B7-7817-4A4F-280BA6186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CEA20-175C-7F5B-9215-5D165095E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Pre-</a:t>
            </a:r>
            <a:r>
              <a:rPr lang="en-US" sz="4000" b="1" dirty="0" err="1">
                <a:solidFill>
                  <a:srgbClr val="002060"/>
                </a:solidFill>
              </a:rPr>
              <a:t>procesarea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datelor</a:t>
            </a:r>
            <a:endParaRPr lang="en-US" sz="4000" b="1" dirty="0">
              <a:solidFill>
                <a:srgbClr val="00206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7ECF90-9479-84B5-3899-E6DF4FDFD0AF}"/>
              </a:ext>
            </a:extLst>
          </p:cNvPr>
          <p:cNvSpPr txBox="1"/>
          <p:nvPr/>
        </p:nvSpPr>
        <p:spPr>
          <a:xfrm>
            <a:off x="457200" y="2188334"/>
            <a:ext cx="8288867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dirty="0"/>
              <a:t>➡️ </a:t>
            </a:r>
            <a:r>
              <a:rPr lang="en-US" sz="1600" b="1" dirty="0"/>
              <a:t>Pre-</a:t>
            </a:r>
            <a:r>
              <a:rPr lang="en-US" sz="1600" b="1" dirty="0" err="1"/>
              <a:t>procesari</a:t>
            </a:r>
            <a:r>
              <a:rPr lang="en-US" sz="1600" b="1" dirty="0"/>
              <a:t> </a:t>
            </a:r>
            <a:r>
              <a:rPr lang="en-US" sz="1600" b="1" dirty="0" err="1"/>
              <a:t>efectuate</a:t>
            </a:r>
            <a:r>
              <a:rPr lang="en-US" sz="1600" dirty="0"/>
              <a:t>:</a:t>
            </a:r>
          </a:p>
          <a:p>
            <a:pPr>
              <a:lnSpc>
                <a:spcPct val="150000"/>
              </a:lnSpc>
            </a:pPr>
            <a:r>
              <a:rPr lang="en-US" dirty="0"/>
              <a:t>	</a:t>
            </a:r>
            <a:r>
              <a:rPr lang="en-US" sz="1400" dirty="0"/>
              <a:t>- </a:t>
            </a:r>
            <a:r>
              <a:rPr lang="en-US" sz="1400" dirty="0" err="1"/>
              <a:t>numele</a:t>
            </a:r>
            <a:r>
              <a:rPr lang="en-US" sz="1400" dirty="0"/>
              <a:t> </a:t>
            </a:r>
            <a:r>
              <a:rPr lang="en-US" sz="1400" dirty="0" err="1"/>
              <a:t>atributelor</a:t>
            </a:r>
            <a:r>
              <a:rPr lang="en-US" sz="1400" dirty="0"/>
              <a:t> </a:t>
            </a:r>
            <a:r>
              <a:rPr lang="en-US" sz="1400" dirty="0" err="1"/>
              <a:t>rescrise</a:t>
            </a:r>
            <a:r>
              <a:rPr lang="en-US" sz="1400" dirty="0"/>
              <a:t> </a:t>
            </a:r>
            <a:r>
              <a:rPr lang="en-US" sz="1400" dirty="0" err="1"/>
              <a:t>fara</a:t>
            </a:r>
            <a:r>
              <a:rPr lang="en-US" sz="1400" dirty="0"/>
              <a:t> </a:t>
            </a:r>
            <a:r>
              <a:rPr lang="en-US" sz="1400" dirty="0" err="1"/>
              <a:t>spatii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dirty="0"/>
              <a:t>	- </a:t>
            </a:r>
            <a:r>
              <a:rPr lang="en-US" sz="1400" dirty="0" err="1"/>
              <a:t>coloana</a:t>
            </a:r>
            <a:r>
              <a:rPr lang="en-US" sz="1400" dirty="0"/>
              <a:t> ‘</a:t>
            </a:r>
            <a:r>
              <a:rPr lang="en-US" sz="1400" dirty="0" err="1"/>
              <a:t>customer_name</a:t>
            </a:r>
            <a:r>
              <a:rPr lang="en-US" sz="1400" dirty="0"/>
              <a:t>’ eliminate </a:t>
            </a:r>
            <a:r>
              <a:rPr lang="en-US" sz="1400" dirty="0" err="1"/>
              <a:t>fiind</a:t>
            </a:r>
            <a:r>
              <a:rPr lang="en-US" sz="1400" dirty="0"/>
              <a:t> </a:t>
            </a:r>
            <a:r>
              <a:rPr lang="en-US" sz="1400" dirty="0" err="1"/>
              <a:t>redundanta</a:t>
            </a:r>
            <a:r>
              <a:rPr lang="en-US" sz="1400" dirty="0"/>
              <a:t> 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	- </a:t>
            </a:r>
            <a:r>
              <a:rPr lang="en-US" sz="1400" dirty="0" err="1"/>
              <a:t>coloana</a:t>
            </a:r>
            <a:r>
              <a:rPr lang="en-US" sz="1400" dirty="0"/>
              <a:t> ‘country’ </a:t>
            </a:r>
            <a:r>
              <a:rPr lang="en-US" sz="1400" dirty="0" err="1"/>
              <a:t>elmiminata</a:t>
            </a:r>
            <a:r>
              <a:rPr lang="en-US" sz="1400" dirty="0"/>
              <a:t>’ </a:t>
            </a:r>
            <a:r>
              <a:rPr lang="en-US" sz="1400" dirty="0" err="1"/>
              <a:t>avand</a:t>
            </a:r>
            <a:r>
              <a:rPr lang="en-US" sz="1400" dirty="0"/>
              <a:t> </a:t>
            </a:r>
            <a:r>
              <a:rPr lang="en-US" sz="1400" dirty="0" err="1"/>
              <a:t>valoare</a:t>
            </a:r>
            <a:r>
              <a:rPr lang="en-US" sz="1400" dirty="0"/>
              <a:t> unica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	- 7 </a:t>
            </a:r>
            <a:r>
              <a:rPr lang="en-US" sz="1400" dirty="0" err="1"/>
              <a:t>coloane</a:t>
            </a:r>
            <a:r>
              <a:rPr lang="en-US" sz="1400" dirty="0"/>
              <a:t> </a:t>
            </a:r>
            <a:r>
              <a:rPr lang="en-US" sz="1400" dirty="0" err="1"/>
              <a:t>noi</a:t>
            </a:r>
            <a:r>
              <a:rPr lang="en-US" sz="1400" dirty="0"/>
              <a:t> : an, luna zi, delay derivate din ‘</a:t>
            </a:r>
            <a:r>
              <a:rPr lang="en-US" sz="1400" dirty="0" err="1"/>
              <a:t>order_date</a:t>
            </a:r>
            <a:r>
              <a:rPr lang="en-US" sz="1400" dirty="0"/>
              <a:t>_, ‘</a:t>
            </a:r>
            <a:r>
              <a:rPr lang="en-US" sz="1400" dirty="0" err="1"/>
              <a:t>shipment_date</a:t>
            </a:r>
            <a:r>
              <a:rPr lang="en-US" sz="1400" dirty="0"/>
              <a:t>’</a:t>
            </a:r>
          </a:p>
          <a:p>
            <a:pPr>
              <a:lnSpc>
                <a:spcPct val="150000"/>
              </a:lnSpc>
            </a:pPr>
            <a:r>
              <a:rPr lang="en-US" sz="1400" dirty="0"/>
              <a:t>	- 2 </a:t>
            </a:r>
            <a:r>
              <a:rPr lang="en-US" sz="1400" dirty="0" err="1"/>
              <a:t>coloane</a:t>
            </a:r>
            <a:r>
              <a:rPr lang="en-US" sz="1400" dirty="0"/>
              <a:t> </a:t>
            </a:r>
            <a:r>
              <a:rPr lang="en-US" sz="1400" dirty="0" err="1"/>
              <a:t>noi</a:t>
            </a:r>
            <a:r>
              <a:rPr lang="en-US" sz="1400" dirty="0"/>
              <a:t> : </a:t>
            </a:r>
            <a:r>
              <a:rPr lang="en-US" sz="1400" dirty="0" err="1"/>
              <a:t>profit_per_unit</a:t>
            </a:r>
            <a:r>
              <a:rPr lang="en-US" sz="1400" dirty="0"/>
              <a:t>, </a:t>
            </a:r>
            <a:r>
              <a:rPr lang="en-US" sz="1400" dirty="0" err="1"/>
              <a:t>sales_per_unit</a:t>
            </a:r>
            <a:r>
              <a:rPr lang="en-US" sz="1400" dirty="0"/>
              <a:t>, derivate din ‘profit’, respective ‘sales’ 	</a:t>
            </a:r>
            <a:r>
              <a:rPr lang="en-US" sz="1400" dirty="0" err="1"/>
              <a:t>aportate</a:t>
            </a:r>
            <a:r>
              <a:rPr lang="en-US" sz="1400" dirty="0"/>
              <a:t> la 	‘quantity’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486379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9112E-C459-247E-6DC9-581879891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EDA -</a:t>
            </a:r>
            <a:r>
              <a:rPr lang="en-US" sz="4000" b="1" dirty="0" err="1">
                <a:solidFill>
                  <a:srgbClr val="002060"/>
                </a:solidFill>
              </a:rPr>
              <a:t>Exporatory</a:t>
            </a:r>
            <a:r>
              <a:rPr lang="en-US" sz="4000" b="1" dirty="0">
                <a:solidFill>
                  <a:srgbClr val="002060"/>
                </a:solidFill>
              </a:rPr>
              <a:t> Data Analysis (1)</a:t>
            </a:r>
          </a:p>
        </p:txBody>
      </p:sp>
      <p:pic>
        <p:nvPicPr>
          <p:cNvPr id="19" name="Content Placeholder 18">
            <a:extLst>
              <a:ext uri="{FF2B5EF4-FFF2-40B4-BE49-F238E27FC236}">
                <a16:creationId xmlns:a16="http://schemas.microsoft.com/office/drawing/2014/main" id="{46B68BC7-763E-373B-4F85-0DBB89F9EE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6226" y="1532046"/>
            <a:ext cx="8682898" cy="330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3276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7117A2-5D20-6E0D-0678-9EDA66E365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CE5B1A-DA77-89CE-5B87-B4DCB8C38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EDA -</a:t>
            </a:r>
            <a:r>
              <a:rPr lang="en-US" sz="4000" b="1" dirty="0" err="1">
                <a:solidFill>
                  <a:srgbClr val="002060"/>
                </a:solidFill>
              </a:rPr>
              <a:t>Exporatory</a:t>
            </a:r>
            <a:r>
              <a:rPr lang="en-US" sz="4000" b="1" dirty="0">
                <a:solidFill>
                  <a:srgbClr val="002060"/>
                </a:solidFill>
              </a:rPr>
              <a:t> Data Analysis (2)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BCD1C9-4876-8400-39FD-B313EF9B8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2319"/>
            <a:ext cx="8978449" cy="2773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6967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017414DB-BC4C-A7EF-58B5-0DF16637170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350983" y="5154553"/>
            <a:ext cx="450041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➡️ </a:t>
            </a:r>
            <a:r>
              <a:rPr lang="en-US" sz="1000" b="1" dirty="0"/>
              <a:t>337 de </a:t>
            </a:r>
            <a:r>
              <a:rPr lang="en-US" sz="1000" b="1" dirty="0" err="1"/>
              <a:t>product_name</a:t>
            </a:r>
            <a:r>
              <a:rPr lang="en-US" sz="1000" b="1" dirty="0"/>
              <a:t> </a:t>
            </a:r>
            <a:r>
              <a:rPr lang="en-US" sz="1000" b="1" dirty="0" err="1"/>
              <a:t>diferite</a:t>
            </a:r>
            <a:r>
              <a:rPr lang="en-US" sz="1000" b="1" dirty="0"/>
              <a:t> </a:t>
            </a:r>
            <a:r>
              <a:rPr lang="en-US" sz="1000" b="1" dirty="0" err="1"/>
              <a:t>pentru</a:t>
            </a:r>
            <a:r>
              <a:rPr lang="en-US" sz="1000" b="1" dirty="0"/>
              <a:t> 32 de </a:t>
            </a:r>
            <a:r>
              <a:rPr lang="en-US" sz="1000" b="1" dirty="0" err="1"/>
              <a:t>product_id</a:t>
            </a:r>
            <a:r>
              <a:rPr lang="en-US" sz="1000" dirty="0"/>
              <a:t>: (EDA)</a:t>
            </a:r>
          </a:p>
          <a:p>
            <a:endParaRPr lang="en-US" sz="1000" dirty="0"/>
          </a:p>
          <a:p>
            <a:r>
              <a:rPr lang="en-US" sz="1000" dirty="0"/>
              <a:t> index          </a:t>
            </a:r>
            <a:r>
              <a:rPr lang="en-US" sz="1000" dirty="0" err="1"/>
              <a:t>product_id</a:t>
            </a:r>
            <a:r>
              <a:rPr lang="en-US" sz="1000" dirty="0"/>
              <a:t>                                       </a:t>
            </a:r>
            <a:r>
              <a:rPr lang="en-US" sz="1000" dirty="0" err="1"/>
              <a:t>product_name</a:t>
            </a:r>
            <a:endParaRPr lang="en-US" sz="1000" dirty="0"/>
          </a:p>
          <a:p>
            <a:r>
              <a:rPr lang="en-US" sz="1000" dirty="0"/>
              <a:t>2471  FUR-BO-10002213   Sauder Forest Hills Library, Woodland Oak Finish</a:t>
            </a:r>
          </a:p>
          <a:p>
            <a:r>
              <a:rPr lang="en-US" sz="1000" dirty="0"/>
              <a:t>2115  FUR-BO-10002213              DMI Eclipse Executive Suite Bookcases</a:t>
            </a:r>
          </a:p>
          <a:p>
            <a:r>
              <a:rPr lang="en-US" sz="1000" dirty="0"/>
              <a:t>...               ...                                                ...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1AED43-A8B6-4F79-6130-D2CF7783CA53}"/>
              </a:ext>
            </a:extLst>
          </p:cNvPr>
          <p:cNvSpPr txBox="1"/>
          <p:nvPr/>
        </p:nvSpPr>
        <p:spPr>
          <a:xfrm>
            <a:off x="5004183" y="5154553"/>
            <a:ext cx="40682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➡️ </a:t>
            </a:r>
            <a:r>
              <a:rPr lang="en-US" sz="1000" b="1" dirty="0"/>
              <a:t>314 de </a:t>
            </a:r>
            <a:r>
              <a:rPr lang="en-US" sz="1000" b="1" dirty="0" err="1"/>
              <a:t>product_id</a:t>
            </a:r>
            <a:r>
              <a:rPr lang="en-US" sz="1000" b="1" dirty="0"/>
              <a:t> </a:t>
            </a:r>
            <a:r>
              <a:rPr lang="en-US" sz="1000" b="1" dirty="0" err="1"/>
              <a:t>diferite</a:t>
            </a:r>
            <a:r>
              <a:rPr lang="en-US" sz="1000" b="1" dirty="0"/>
              <a:t> </a:t>
            </a:r>
            <a:r>
              <a:rPr lang="en-US" sz="1000" b="1" dirty="0" err="1"/>
              <a:t>pentru</a:t>
            </a:r>
            <a:r>
              <a:rPr lang="en-US" sz="1000" b="1" dirty="0"/>
              <a:t> </a:t>
            </a:r>
            <a:r>
              <a:rPr lang="en-US" sz="1000" b="1" dirty="0" err="1"/>
              <a:t>cele</a:t>
            </a:r>
            <a:r>
              <a:rPr lang="en-US" sz="1000" b="1" dirty="0"/>
              <a:t> 16 de </a:t>
            </a:r>
            <a:r>
              <a:rPr lang="en-US" sz="1000" b="1" dirty="0" err="1"/>
              <a:t>product_name</a:t>
            </a:r>
            <a:r>
              <a:rPr lang="en-US" sz="1000" b="1" dirty="0"/>
              <a:t> (EDA)</a:t>
            </a:r>
          </a:p>
          <a:p>
            <a:endParaRPr lang="en-US" sz="1000" dirty="0"/>
          </a:p>
          <a:p>
            <a:r>
              <a:rPr lang="en-US" sz="1000" dirty="0"/>
              <a:t>index		</a:t>
            </a:r>
            <a:r>
              <a:rPr lang="en-US" sz="1000" dirty="0" err="1"/>
              <a:t>product_name</a:t>
            </a:r>
            <a:r>
              <a:rPr lang="en-US" sz="1000" dirty="0"/>
              <a:t>      		</a:t>
            </a:r>
            <a:r>
              <a:rPr lang="en-US" sz="1000" dirty="0" err="1"/>
              <a:t>product_id</a:t>
            </a:r>
            <a:endParaRPr lang="en-US" sz="1000" dirty="0"/>
          </a:p>
          <a:p>
            <a:r>
              <a:rPr lang="en-US" sz="1000" dirty="0"/>
              <a:t>985         #10- 4 1/8" x 9 1/2" Recycled Envelopes  OFF-EN-10000461</a:t>
            </a:r>
          </a:p>
          <a:p>
            <a:r>
              <a:rPr lang="en-US" sz="1000" dirty="0"/>
              <a:t>1989        #10- 4 1/8" x 9 1/2" Recycled Envelopes  OFF-EN-10000781</a:t>
            </a:r>
          </a:p>
          <a:p>
            <a:r>
              <a:rPr lang="en-US" sz="1000" dirty="0"/>
              <a:t>…….			…….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8571E87-9F19-0E8C-385F-4A8F752F5E06}"/>
              </a:ext>
            </a:extLst>
          </p:cNvPr>
          <p:cNvSpPr txBox="1">
            <a:spLocks/>
          </p:cNvSpPr>
          <p:nvPr/>
        </p:nvSpPr>
        <p:spPr>
          <a:xfrm>
            <a:off x="554182" y="16033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rgbClr val="002060"/>
                </a:solidFill>
              </a:rPr>
              <a:t>EDA -</a:t>
            </a:r>
            <a:r>
              <a:rPr lang="en-US" sz="4000" b="1" dirty="0" err="1">
                <a:solidFill>
                  <a:srgbClr val="002060"/>
                </a:solidFill>
              </a:rPr>
              <a:t>Exporatory</a:t>
            </a:r>
            <a:r>
              <a:rPr lang="en-US" sz="4000" b="1" dirty="0">
                <a:solidFill>
                  <a:srgbClr val="002060"/>
                </a:solidFill>
              </a:rPr>
              <a:t> Data Analysis (3)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D51A22-B873-9D4E-D114-6738E2164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82" y="1575651"/>
            <a:ext cx="8661400" cy="31219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969DE0-7B45-A028-481E-CB6E9628AE04}"/>
              </a:ext>
            </a:extLst>
          </p:cNvPr>
          <p:cNvSpPr txBox="1"/>
          <p:nvPr/>
        </p:nvSpPr>
        <p:spPr>
          <a:xfrm>
            <a:off x="96982" y="111867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/>
              <a:t>➡️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Clustering (K-means)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6298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 err="1">
                <a:solidFill>
                  <a:srgbClr val="002060"/>
                </a:solidFill>
              </a:rPr>
              <a:t>Arhitectura</a:t>
            </a:r>
            <a:r>
              <a:rPr sz="4000" b="1" dirty="0">
                <a:solidFill>
                  <a:srgbClr val="002060"/>
                </a:solidFill>
              </a:rPr>
              <a:t> </a:t>
            </a:r>
            <a:r>
              <a:rPr sz="4000" b="1" dirty="0" err="1">
                <a:solidFill>
                  <a:srgbClr val="002060"/>
                </a:solidFill>
              </a:rPr>
              <a:t>Datelor</a:t>
            </a:r>
            <a:r>
              <a:rPr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s</a:t>
            </a:r>
            <a:r>
              <a:rPr sz="4000" b="1" dirty="0" err="1">
                <a:solidFill>
                  <a:srgbClr val="002060"/>
                </a:solidFill>
              </a:rPr>
              <a:t>i</a:t>
            </a:r>
            <a:r>
              <a:rPr sz="4000" b="1" dirty="0">
                <a:solidFill>
                  <a:srgbClr val="002060"/>
                </a:solidFill>
              </a:rPr>
              <a:t> Pipeline</a:t>
            </a:r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24EA69DC-7A0B-5122-139F-DA1328BC42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3563" y="1760561"/>
            <a:ext cx="8374170" cy="2644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/>
              <a:t>➡️ </a:t>
            </a:r>
            <a:r>
              <a:rPr kumimoji="0" lang="en-US" altLang="en-US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Conceptul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‘Zero-Leakage’: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	-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Datele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impartite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lang="en-US" altLang="en-US" sz="1400" dirty="0" err="1"/>
              <a:t>relativ</a:t>
            </a:r>
            <a:r>
              <a:rPr lang="en-US" altLang="en-US" sz="1400" dirty="0"/>
              <a:t> uniform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 ani, </a:t>
            </a:r>
            <a:r>
              <a:rPr lang="en-US" altLang="en-US" sz="1400" dirty="0" err="1"/>
              <a:t>datele</a:t>
            </a:r>
            <a:r>
              <a:rPr lang="en-US" altLang="en-US" sz="1400" dirty="0"/>
              <a:t> din </a:t>
            </a:r>
            <a:r>
              <a:rPr lang="en-US" altLang="en-US" sz="1400" dirty="0" err="1"/>
              <a:t>anul</a:t>
            </a:r>
            <a:r>
              <a:rPr lang="en-US" altLang="en-US" sz="1400" dirty="0"/>
              <a:t> </a:t>
            </a:r>
            <a:r>
              <a:rPr lang="en-US" altLang="en-US" sz="1400" dirty="0" err="1"/>
              <a:t>anuterior</a:t>
            </a:r>
            <a:r>
              <a:rPr lang="en-US" altLang="en-US" sz="1400" dirty="0"/>
              <a:t> nu </a:t>
            </a:r>
            <a:r>
              <a:rPr lang="en-US" altLang="en-US" sz="1400" dirty="0" err="1"/>
              <a:t>contamineaza</a:t>
            </a:r>
            <a:r>
              <a:rPr lang="en-US" altLang="en-US" sz="1400" dirty="0"/>
              <a:t> </a:t>
            </a:r>
            <a:r>
              <a:rPr lang="en-US" altLang="en-US" sz="1400" dirty="0" err="1"/>
              <a:t>anul</a:t>
            </a:r>
            <a:r>
              <a:rPr lang="en-US" altLang="en-US" sz="1400" dirty="0"/>
              <a:t> </a:t>
            </a:r>
            <a:r>
              <a:rPr lang="en-US" altLang="en-US" sz="1400" dirty="0" err="1"/>
              <a:t>curent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/>
              <a:t>➡️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Train (2014-2016):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	-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Antrenarea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trecutul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cunoscut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(80% din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datele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istorice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/>
              <a:t>➡️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Test </a:t>
            </a:r>
            <a:r>
              <a:rPr lang="en-US" altLang="en-US" sz="1400" b="1" dirty="0"/>
              <a:t>(2014-2016)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dirty="0"/>
              <a:t>	-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Validare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interna (20% din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datele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istorice</a:t>
            </a:r>
            <a:r>
              <a:rPr lang="en-US" altLang="en-US" sz="1400" dirty="0"/>
              <a:t>)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1400" dirty="0"/>
              <a:t>➡️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Blind Set (2017):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400" b="1" dirty="0"/>
              <a:t>	-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Simularea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productiei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reale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pe un an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complet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necunoscut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modelului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000" b="1" dirty="0">
                <a:solidFill>
                  <a:srgbClr val="002060"/>
                </a:solidFill>
              </a:rPr>
              <a:t>Insights: </a:t>
            </a:r>
            <a:r>
              <a:rPr sz="4000" b="1" dirty="0" err="1">
                <a:solidFill>
                  <a:srgbClr val="002060"/>
                </a:solidFill>
              </a:rPr>
              <a:t>Factorii</a:t>
            </a:r>
            <a:r>
              <a:rPr sz="4000" b="1" dirty="0">
                <a:solidFill>
                  <a:srgbClr val="002060"/>
                </a:solidFill>
              </a:rPr>
              <a:t> </a:t>
            </a:r>
            <a:r>
              <a:rPr sz="4000" b="1" dirty="0" err="1">
                <a:solidFill>
                  <a:srgbClr val="002060"/>
                </a:solidFill>
              </a:rPr>
              <a:t>Determinan</a:t>
            </a:r>
            <a:r>
              <a:rPr lang="en-US" sz="4000" b="1" dirty="0" err="1">
                <a:solidFill>
                  <a:srgbClr val="002060"/>
                </a:solidFill>
              </a:rPr>
              <a:t>t</a:t>
            </a:r>
            <a:r>
              <a:rPr sz="4000" b="1" dirty="0" err="1">
                <a:solidFill>
                  <a:srgbClr val="002060"/>
                </a:solidFill>
              </a:rPr>
              <a:t>i</a:t>
            </a:r>
            <a:endParaRPr sz="4000" b="1" dirty="0">
              <a:solidFill>
                <a:srgbClr val="002060"/>
              </a:solidFill>
            </a:endParaRPr>
          </a:p>
        </p:txBody>
      </p:sp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360BDDD3-B719-02FE-3D8E-3F51ADEA97A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3880" y="1919866"/>
            <a:ext cx="7287491" cy="33234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000" y="274638"/>
            <a:ext cx="8796866" cy="114300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Lookups de Risc: Memorie model</a:t>
            </a:r>
            <a:endParaRPr sz="4000" b="1" dirty="0">
              <a:solidFill>
                <a:srgbClr val="002060"/>
              </a:solidFill>
              <a:latin typeface="Arial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13466"/>
            <a:ext cx="8229600" cy="45259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➡️ </a:t>
            </a:r>
            <a:r>
              <a:rPr lang="en-US" sz="1600" b="1" dirty="0" err="1"/>
              <a:t>Identificarea</a:t>
            </a:r>
            <a:r>
              <a:rPr lang="en-US" sz="1600" b="1" dirty="0"/>
              <a:t> </a:t>
            </a:r>
            <a:r>
              <a:rPr lang="en-US" sz="1600" b="1" dirty="0" err="1"/>
              <a:t>tiparelor</a:t>
            </a:r>
            <a:r>
              <a:rPr lang="en-US" sz="1600" b="1" dirty="0"/>
              <a:t>:</a:t>
            </a:r>
            <a:r>
              <a:rPr lang="en-US" sz="1600" dirty="0"/>
              <a:t> </a:t>
            </a:r>
            <a:r>
              <a:rPr lang="en-US" sz="1600" dirty="0" err="1"/>
              <a:t>calculul</a:t>
            </a:r>
            <a:r>
              <a:rPr lang="en-US" sz="1600" dirty="0"/>
              <a:t> </a:t>
            </a:r>
            <a:r>
              <a:rPr lang="en-US" sz="1600" dirty="0" err="1"/>
              <a:t>profitul</a:t>
            </a:r>
            <a:r>
              <a:rPr lang="en-US" sz="1600" dirty="0"/>
              <a:t> </a:t>
            </a:r>
            <a:r>
              <a:rPr lang="en-US" sz="1600" dirty="0" err="1"/>
              <a:t>mediu</a:t>
            </a:r>
            <a:r>
              <a:rPr lang="en-US" sz="1600" dirty="0"/>
              <a:t> pe </a:t>
            </a:r>
            <a:r>
              <a:rPr lang="en-US" sz="1600" dirty="0" err="1"/>
              <a:t>combinatii</a:t>
            </a:r>
            <a:r>
              <a:rPr lang="en-US" sz="1600" dirty="0"/>
              <a:t> de Sub-</a:t>
            </a:r>
            <a:r>
              <a:rPr lang="en-US" sz="1600" dirty="0" err="1"/>
              <a:t>Categorie</a:t>
            </a:r>
            <a:r>
              <a:rPr lang="en-US" sz="1600" dirty="0"/>
              <a:t> </a:t>
            </a:r>
            <a:r>
              <a:rPr lang="en-US" sz="1600" dirty="0" err="1"/>
              <a:t>si</a:t>
            </a:r>
            <a:r>
              <a:rPr lang="en-US" sz="1600" dirty="0"/>
              <a:t> </a:t>
            </a:r>
            <a:r>
              <a:rPr lang="en-US" sz="1600" dirty="0" err="1"/>
              <a:t>Regiune</a:t>
            </a:r>
            <a:r>
              <a:rPr lang="en-US" sz="16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➡️ </a:t>
            </a:r>
            <a:r>
              <a:rPr lang="en-US" sz="1600" b="1" dirty="0" err="1"/>
              <a:t>Semnale</a:t>
            </a:r>
            <a:r>
              <a:rPr lang="en-US" sz="1600" b="1" dirty="0"/>
              <a:t> de </a:t>
            </a:r>
            <a:r>
              <a:rPr lang="en-US" sz="1600" b="1" dirty="0" err="1"/>
              <a:t>alerta</a:t>
            </a:r>
            <a:r>
              <a:rPr lang="en-US" sz="1600" b="1" dirty="0"/>
              <a:t>:</a:t>
            </a:r>
            <a:r>
              <a:rPr lang="en-US" sz="1600" dirty="0"/>
              <a:t> </a:t>
            </a:r>
            <a:r>
              <a:rPr lang="en-US" sz="1600" dirty="0" err="1"/>
              <a:t>e.g</a:t>
            </a:r>
            <a:r>
              <a:rPr lang="en-US" sz="1600" dirty="0"/>
              <a:t>: </a:t>
            </a:r>
            <a:r>
              <a:rPr lang="en-US" sz="1600" dirty="0" err="1"/>
              <a:t>daca</a:t>
            </a:r>
            <a:r>
              <a:rPr lang="en-US" sz="1600" dirty="0"/>
              <a:t> </a:t>
            </a:r>
            <a:r>
              <a:rPr lang="en-US" sz="1600" dirty="0" err="1"/>
              <a:t>categoria</a:t>
            </a:r>
            <a:r>
              <a:rPr lang="en-US" sz="1600" dirty="0"/>
              <a:t> de </a:t>
            </a:r>
            <a:r>
              <a:rPr lang="en-US" sz="1600" dirty="0" err="1"/>
              <a:t>produse</a:t>
            </a:r>
            <a:r>
              <a:rPr lang="en-US" sz="1600" dirty="0"/>
              <a:t> "Tables" in </a:t>
            </a:r>
            <a:r>
              <a:rPr lang="en-US" sz="1600" dirty="0" err="1"/>
              <a:t>regiunea</a:t>
            </a:r>
            <a:r>
              <a:rPr lang="en-US" sz="1600" dirty="0"/>
              <a:t> "East" are </a:t>
            </a:r>
            <a:r>
              <a:rPr lang="en-US" sz="1600" dirty="0" err="1"/>
              <a:t>pierderi</a:t>
            </a:r>
            <a:r>
              <a:rPr lang="en-US" sz="1600" dirty="0"/>
              <a:t> </a:t>
            </a:r>
            <a:r>
              <a:rPr lang="en-US" sz="1600" dirty="0" err="1"/>
              <a:t>constante</a:t>
            </a:r>
            <a:r>
              <a:rPr lang="en-US" sz="1600" dirty="0"/>
              <a:t>, </a:t>
            </a:r>
            <a:r>
              <a:rPr lang="en-US" sz="1600" dirty="0" err="1"/>
              <a:t>modelul</a:t>
            </a:r>
            <a:r>
              <a:rPr lang="en-US" sz="1600" dirty="0"/>
              <a:t> </a:t>
            </a:r>
            <a:r>
              <a:rPr lang="en-US" sz="1600" dirty="0" err="1"/>
              <a:t>primeste</a:t>
            </a:r>
            <a:r>
              <a:rPr lang="en-US" sz="1600" dirty="0"/>
              <a:t> la </a:t>
            </a:r>
            <a:r>
              <a:rPr lang="en-US" sz="1600" dirty="0" err="1"/>
              <a:t>aceasta</a:t>
            </a:r>
            <a:r>
              <a:rPr lang="en-US" sz="1600" dirty="0"/>
              <a:t> </a:t>
            </a:r>
            <a:r>
              <a:rPr lang="en-US" sz="1600" dirty="0" err="1"/>
              <a:t>categoire</a:t>
            </a:r>
            <a:r>
              <a:rPr lang="en-US" sz="1600" dirty="0"/>
              <a:t> “red-flag".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➡️ </a:t>
            </a:r>
            <a:r>
              <a:rPr lang="en-US" sz="1600" b="1" dirty="0" err="1"/>
              <a:t>Mecanism</a:t>
            </a:r>
            <a:r>
              <a:rPr lang="en-US" sz="1600" b="1" dirty="0"/>
              <a:t> ‘fallback’:</a:t>
            </a:r>
            <a:r>
              <a:rPr lang="en-US" sz="1600" dirty="0"/>
              <a:t> </a:t>
            </a:r>
            <a:r>
              <a:rPr lang="en-US" sz="1600" dirty="0" err="1"/>
              <a:t>pentru</a:t>
            </a:r>
            <a:r>
              <a:rPr lang="en-US" sz="1600" dirty="0"/>
              <a:t> </a:t>
            </a:r>
            <a:r>
              <a:rPr lang="en-US" sz="1600" dirty="0" err="1"/>
              <a:t>produse</a:t>
            </a:r>
            <a:r>
              <a:rPr lang="en-US" sz="1600" dirty="0"/>
              <a:t> </a:t>
            </a:r>
            <a:r>
              <a:rPr lang="en-US" sz="1600" dirty="0" err="1"/>
              <a:t>noi</a:t>
            </a:r>
            <a:r>
              <a:rPr lang="en-US" sz="1600" dirty="0"/>
              <a:t> in 2017, </a:t>
            </a:r>
            <a:r>
              <a:rPr lang="en-US" sz="1600" dirty="0" err="1"/>
              <a:t>folosim</a:t>
            </a:r>
            <a:r>
              <a:rPr lang="en-US" sz="1600" dirty="0"/>
              <a:t> </a:t>
            </a:r>
            <a:r>
              <a:rPr lang="en-US" sz="1600" dirty="0" err="1"/>
              <a:t>marja</a:t>
            </a:r>
            <a:r>
              <a:rPr lang="en-US" sz="1600" dirty="0"/>
              <a:t> </a:t>
            </a:r>
            <a:r>
              <a:rPr lang="en-US" sz="1600" dirty="0" err="1"/>
              <a:t>medie</a:t>
            </a:r>
            <a:r>
              <a:rPr lang="en-US" sz="1600" dirty="0"/>
              <a:t> </a:t>
            </a:r>
            <a:r>
              <a:rPr lang="en-US" sz="1600" dirty="0" err="1"/>
              <a:t>istorica</a:t>
            </a:r>
            <a:r>
              <a:rPr lang="en-US" sz="1600" dirty="0"/>
              <a:t> </a:t>
            </a:r>
            <a:r>
              <a:rPr lang="en-US" sz="1600" dirty="0" err="1"/>
              <a:t>pentru</a:t>
            </a:r>
            <a:r>
              <a:rPr lang="en-US" sz="1600" dirty="0"/>
              <a:t> a </a:t>
            </a:r>
            <a:r>
              <a:rPr lang="en-US" sz="1600" dirty="0" err="1"/>
              <a:t>evita</a:t>
            </a:r>
            <a:r>
              <a:rPr lang="en-US" sz="1600" dirty="0"/>
              <a:t> </a:t>
            </a:r>
            <a:r>
              <a:rPr lang="en-US" sz="1600" dirty="0" err="1"/>
              <a:t>predictiile</a:t>
            </a:r>
            <a:r>
              <a:rPr lang="en-US" sz="1600" dirty="0"/>
              <a:t> </a:t>
            </a:r>
            <a:r>
              <a:rPr lang="en-US" sz="1600" dirty="0" err="1"/>
              <a:t>oarbe</a:t>
            </a:r>
            <a:r>
              <a:rPr lang="en-US" sz="1600" dirty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78F8C5A-4900-2506-D810-0FB0B6F41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0190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Model</a:t>
            </a:r>
            <a:endParaRPr sz="4000" b="1" dirty="0">
              <a:solidFill>
                <a:srgbClr val="002060"/>
              </a:solidFill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3B88717-8E3B-F9DC-93E4-DE3518F422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7589"/>
            <a:ext cx="5754731" cy="5347104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E80DB94-4160-BE77-C38A-8E878C513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4731" y="1036014"/>
            <a:ext cx="3124200" cy="51912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200" dirty="0"/>
              <a:t>➡️ </a:t>
            </a:r>
            <a:r>
              <a:rPr lang="en-US" sz="1200" b="1" dirty="0" err="1"/>
              <a:t>Profil</a:t>
            </a:r>
            <a:r>
              <a:rPr lang="en-US" sz="1200" b="1" dirty="0"/>
              <a:t> Client RFM</a:t>
            </a:r>
          </a:p>
          <a:p>
            <a:pPr marL="0" indent="0">
              <a:buNone/>
            </a:pPr>
            <a:r>
              <a:rPr lang="en-US" sz="1200" b="1" dirty="0"/>
              <a:t>	- </a:t>
            </a:r>
            <a:r>
              <a:rPr lang="en-US" sz="1200" i="1" dirty="0"/>
              <a:t>Recent, </a:t>
            </a:r>
            <a:r>
              <a:rPr lang="en-US" sz="1200" i="1" dirty="0" err="1"/>
              <a:t>Frecvent</a:t>
            </a:r>
            <a:r>
              <a:rPr lang="en-US" sz="1200" i="1" dirty="0"/>
              <a:t>, </a:t>
            </a:r>
            <a:r>
              <a:rPr lang="en-US" sz="1200" i="1" dirty="0" err="1"/>
              <a:t>Monetar</a:t>
            </a:r>
            <a:endParaRPr lang="en-US" sz="1200" i="1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➡️ </a:t>
            </a:r>
            <a:r>
              <a:rPr lang="en-US" sz="1200" b="1" dirty="0"/>
              <a:t>Lista de features  </a:t>
            </a:r>
          </a:p>
          <a:p>
            <a:pPr marL="0" indent="0">
              <a:buNone/>
            </a:pPr>
            <a:r>
              <a:rPr lang="en-US" sz="1200" b="1" dirty="0"/>
              <a:t>	</a:t>
            </a:r>
            <a:r>
              <a:rPr lang="en-US" sz="1200" b="1" i="1" dirty="0"/>
              <a:t>- </a:t>
            </a:r>
            <a:r>
              <a:rPr lang="en-US" sz="1200" i="1" dirty="0"/>
              <a:t>44 de features </a:t>
            </a:r>
            <a:r>
              <a:rPr lang="en-US" sz="1200" i="1" dirty="0" err="1"/>
              <a:t>organizate</a:t>
            </a:r>
            <a:r>
              <a:rPr lang="en-US" sz="1200" i="1" dirty="0"/>
              <a:t> </a:t>
            </a:r>
            <a:r>
              <a:rPr lang="en-US" sz="1200" i="1" dirty="0" err="1"/>
              <a:t>tematic</a:t>
            </a:r>
            <a:endParaRPr lang="en-US" sz="1200" i="1" dirty="0"/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➡️ </a:t>
            </a:r>
            <a:r>
              <a:rPr lang="en-US" sz="1200" b="1" dirty="0" err="1"/>
              <a:t>Impactul</a:t>
            </a:r>
            <a:r>
              <a:rPr lang="en-US" sz="1200" b="1" dirty="0"/>
              <a:t> </a:t>
            </a:r>
            <a:r>
              <a:rPr lang="en-US" sz="1200" b="1" dirty="0" err="1"/>
              <a:t>Discountului</a:t>
            </a:r>
            <a:r>
              <a:rPr lang="en-US" sz="1200" b="1" dirty="0"/>
              <a:t> </a:t>
            </a:r>
          </a:p>
          <a:p>
            <a:pPr marL="0" indent="0">
              <a:buNone/>
            </a:pPr>
            <a:r>
              <a:rPr lang="en-US" sz="1200" b="1" dirty="0"/>
              <a:t>	- </a:t>
            </a:r>
            <a:r>
              <a:rPr lang="en-US" sz="1200" dirty="0" err="1"/>
              <a:t>prag</a:t>
            </a:r>
            <a:r>
              <a:rPr lang="en-US" sz="1200" b="1" dirty="0"/>
              <a:t> </a:t>
            </a:r>
            <a:r>
              <a:rPr lang="en-US" sz="1200" i="1" dirty="0"/>
              <a:t>30%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➡️ </a:t>
            </a:r>
            <a:r>
              <a:rPr lang="en-US" sz="1200" b="1" dirty="0" err="1"/>
              <a:t>Agregarea</a:t>
            </a:r>
            <a:r>
              <a:rPr lang="en-US" sz="1200" b="1" dirty="0"/>
              <a:t> </a:t>
            </a:r>
            <a:r>
              <a:rPr lang="en-US" sz="1200" b="1" dirty="0" err="1"/>
              <a:t>Datelor</a:t>
            </a:r>
            <a:r>
              <a:rPr lang="en-US" sz="1200" b="1" dirty="0"/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i="1" dirty="0"/>
              <a:t>	- Client × An × </a:t>
            </a:r>
            <a:r>
              <a:rPr lang="en-US" sz="1200" i="1" dirty="0" err="1"/>
              <a:t>Regiune</a:t>
            </a:r>
            <a:r>
              <a:rPr lang="en-US" sz="1200" i="1" dirty="0"/>
              <a:t> × Sub-</a:t>
            </a:r>
            <a:r>
              <a:rPr lang="en-US" sz="1200" i="1" dirty="0" err="1"/>
              <a:t>Categorie</a:t>
            </a:r>
            <a:endParaRPr lang="en-US" sz="1200" i="1" dirty="0"/>
          </a:p>
          <a:p>
            <a:pPr marL="0" indent="0">
              <a:buNone/>
            </a:pPr>
            <a:endParaRPr lang="en-US" sz="1200" i="1" dirty="0"/>
          </a:p>
          <a:p>
            <a:pPr marL="0" indent="0">
              <a:buNone/>
            </a:pPr>
            <a:r>
              <a:rPr lang="en-US" sz="1200" dirty="0"/>
              <a:t>➡️ </a:t>
            </a:r>
            <a:r>
              <a:rPr lang="en-US" sz="1200" b="1" dirty="0" err="1">
                <a:solidFill>
                  <a:srgbClr val="002060"/>
                </a:solidFill>
              </a:rPr>
              <a:t>Winsorize</a:t>
            </a:r>
            <a:r>
              <a:rPr lang="en-US" sz="1200" b="1" dirty="0">
                <a:solidFill>
                  <a:srgbClr val="002060"/>
                </a:solidFill>
              </a:rPr>
              <a:t>:</a:t>
            </a:r>
            <a:r>
              <a:rPr lang="en-US" sz="1200" dirty="0">
                <a:solidFill>
                  <a:srgbClr val="002060"/>
                </a:solidFill>
              </a:rPr>
              <a:t> </a:t>
            </a:r>
          </a:p>
          <a:p>
            <a:pPr marL="0" indent="0">
              <a:buNone/>
            </a:pPr>
            <a:r>
              <a:rPr lang="en-US" sz="1200" dirty="0">
                <a:solidFill>
                  <a:srgbClr val="002060"/>
                </a:solidFill>
              </a:rPr>
              <a:t>	- </a:t>
            </a:r>
            <a:r>
              <a:rPr lang="en-US" sz="1200" i="1" dirty="0" err="1"/>
              <a:t>Plafonarea</a:t>
            </a:r>
            <a:r>
              <a:rPr lang="en-US" sz="1200" i="1" dirty="0"/>
              <a:t> la </a:t>
            </a:r>
            <a:r>
              <a:rPr lang="en-US" sz="1200" i="1" dirty="0" err="1"/>
              <a:t>percentilele</a:t>
            </a:r>
            <a:r>
              <a:rPr lang="en-US" sz="1200" i="1" dirty="0"/>
              <a:t> 1% </a:t>
            </a:r>
            <a:r>
              <a:rPr lang="en-US" sz="1200" i="1" dirty="0" err="1"/>
              <a:t>si</a:t>
            </a:r>
            <a:r>
              <a:rPr lang="en-US" sz="1200" i="1" dirty="0"/>
              <a:t> 99% 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➡️ </a:t>
            </a:r>
            <a:r>
              <a:rPr lang="en-US" sz="1200" b="1" dirty="0">
                <a:solidFill>
                  <a:srgbClr val="002060"/>
                </a:solidFill>
              </a:rPr>
              <a:t>4 </a:t>
            </a:r>
            <a:r>
              <a:rPr lang="en-US" sz="1200" b="1" dirty="0" err="1">
                <a:solidFill>
                  <a:srgbClr val="002060"/>
                </a:solidFill>
              </a:rPr>
              <a:t>Clustere</a:t>
            </a:r>
            <a:r>
              <a:rPr lang="en-US" sz="1200" b="1" dirty="0">
                <a:solidFill>
                  <a:srgbClr val="002060"/>
                </a:solidFill>
              </a:rPr>
              <a:t> (K-Means)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200" b="1" i="1" dirty="0">
                <a:solidFill>
                  <a:srgbClr val="002060"/>
                </a:solidFill>
              </a:rPr>
              <a:t>	- </a:t>
            </a:r>
            <a:r>
              <a:rPr lang="en-US" sz="1200" i="1" dirty="0" err="1">
                <a:solidFill>
                  <a:srgbClr val="002060"/>
                </a:solidFill>
              </a:rPr>
              <a:t>p</a:t>
            </a:r>
            <a:r>
              <a:rPr lang="en-US" sz="1200" i="1" dirty="0" err="1"/>
              <a:t>rofitabili</a:t>
            </a:r>
            <a:endParaRPr lang="en-US" sz="1200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sz="1200" i="1" dirty="0"/>
              <a:t>- discount mare</a:t>
            </a:r>
            <a:endParaRPr lang="en-US" sz="1200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sz="1200" i="1" dirty="0"/>
              <a:t>- </a:t>
            </a:r>
            <a:r>
              <a:rPr lang="en-US" sz="1200" i="1" dirty="0" err="1"/>
              <a:t>occasionali</a:t>
            </a:r>
            <a:endParaRPr lang="en-US" sz="1200" dirty="0"/>
          </a:p>
          <a:p>
            <a:pPr marL="457200" lvl="1" indent="0">
              <a:spcBef>
                <a:spcPts val="0"/>
              </a:spcBef>
              <a:buNone/>
            </a:pPr>
            <a:r>
              <a:rPr lang="en-US" sz="1200" i="1" dirty="0"/>
              <a:t>- </a:t>
            </a:r>
            <a:r>
              <a:rPr lang="en-US" sz="1200" i="1" dirty="0" err="1"/>
              <a:t>volum</a:t>
            </a:r>
            <a:r>
              <a:rPr lang="en-US" sz="1200" i="1" dirty="0"/>
              <a:t> mare, </a:t>
            </a:r>
            <a:r>
              <a:rPr lang="en-US" sz="1200" i="1" dirty="0" err="1"/>
              <a:t>marja</a:t>
            </a:r>
            <a:r>
              <a:rPr lang="en-US" sz="1200" i="1" dirty="0"/>
              <a:t> </a:t>
            </a:r>
            <a:r>
              <a:rPr lang="en-US" sz="1200" i="1" dirty="0" err="1"/>
              <a:t>medie</a:t>
            </a:r>
            <a:endParaRPr lang="en-US" sz="1200" i="1" dirty="0"/>
          </a:p>
          <a:p>
            <a:pPr lvl="1">
              <a:spcBef>
                <a:spcPts val="0"/>
              </a:spcBef>
            </a:pPr>
            <a:endParaRPr lang="en-US" sz="1200" i="1" dirty="0"/>
          </a:p>
          <a:p>
            <a:pPr marL="57150" indent="0">
              <a:spcBef>
                <a:spcPts val="0"/>
              </a:spcBef>
              <a:buNone/>
            </a:pPr>
            <a:r>
              <a:rPr lang="en-US" sz="1200" dirty="0"/>
              <a:t>➡️ </a:t>
            </a:r>
            <a:r>
              <a:rPr lang="en-US" sz="1200" b="1" dirty="0" err="1">
                <a:solidFill>
                  <a:srgbClr val="002060"/>
                </a:solidFill>
              </a:rPr>
              <a:t>HistGBRegressor</a:t>
            </a:r>
            <a:endParaRPr lang="en-US" sz="1200" b="1" dirty="0">
              <a:solidFill>
                <a:srgbClr val="002060"/>
              </a:solidFill>
            </a:endParaRPr>
          </a:p>
          <a:p>
            <a:pPr marL="57150" indent="0">
              <a:spcBef>
                <a:spcPts val="0"/>
              </a:spcBef>
              <a:buNone/>
            </a:pPr>
            <a:r>
              <a:rPr lang="en-US" sz="1200" b="1" dirty="0">
                <a:solidFill>
                  <a:srgbClr val="002060"/>
                </a:solidFill>
              </a:rPr>
              <a:t>	</a:t>
            </a:r>
            <a:r>
              <a:rPr lang="en-US" sz="1200" b="1" i="1" dirty="0">
                <a:solidFill>
                  <a:srgbClr val="002060"/>
                </a:solidFill>
              </a:rPr>
              <a:t>- </a:t>
            </a:r>
            <a:r>
              <a:rPr lang="en-US" sz="1200" i="1" dirty="0" err="1"/>
              <a:t>max_iter</a:t>
            </a:r>
            <a:r>
              <a:rPr lang="en-US" sz="1200" i="1" dirty="0"/>
              <a:t>=1500, </a:t>
            </a:r>
            <a:r>
              <a:rPr lang="en-US" sz="1200" i="1" dirty="0" err="1"/>
              <a:t>max_depth</a:t>
            </a:r>
            <a:r>
              <a:rPr lang="en-US" sz="1200" i="1" dirty="0"/>
              <a:t>=5</a:t>
            </a:r>
          </a:p>
          <a:p>
            <a:pPr marL="57150" indent="0">
              <a:spcBef>
                <a:spcPts val="0"/>
              </a:spcBef>
              <a:buNone/>
            </a:pPr>
            <a:r>
              <a:rPr lang="en-US" sz="1200" i="1" dirty="0"/>
              <a:t>	- </a:t>
            </a:r>
            <a:r>
              <a:rPr lang="en-US" sz="1200" i="1" dirty="0" err="1"/>
              <a:t>learning_rate</a:t>
            </a:r>
            <a:r>
              <a:rPr lang="en-US" sz="1200" i="1" dirty="0"/>
              <a:t>=0.01</a:t>
            </a:r>
          </a:p>
          <a:p>
            <a:pPr marL="57150" indent="0">
              <a:spcBef>
                <a:spcPts val="0"/>
              </a:spcBef>
              <a:buNone/>
            </a:pPr>
            <a:r>
              <a:rPr lang="en-US" sz="1200" i="1" dirty="0"/>
              <a:t>	- early-stopping pe </a:t>
            </a:r>
            <a:r>
              <a:rPr lang="en-US" sz="1200" i="1" dirty="0" err="1"/>
              <a:t>neg_mae</a:t>
            </a:r>
            <a:endParaRPr lang="en-US" sz="1200" b="1" dirty="0">
              <a:solidFill>
                <a:srgbClr val="002060"/>
              </a:solidFill>
            </a:endParaRPr>
          </a:p>
          <a:p>
            <a:pPr lvl="1">
              <a:spcBef>
                <a:spcPts val="0"/>
              </a:spcBef>
            </a:pPr>
            <a:endParaRPr lang="en-US" sz="1200" b="1" dirty="0"/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8512781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346F9-1EC7-07DB-A57D-3F46CE4CA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err="1">
                <a:solidFill>
                  <a:srgbClr val="002060"/>
                </a:solidFill>
              </a:rPr>
              <a:t>Rezulte</a:t>
            </a:r>
            <a:r>
              <a:rPr lang="en-US" b="1" dirty="0">
                <a:solidFill>
                  <a:srgbClr val="002060"/>
                </a:solidFill>
              </a:rPr>
              <a:t>: </a:t>
            </a:r>
            <a:r>
              <a:rPr lang="en-US" sz="4000" b="1" dirty="0" err="1">
                <a:solidFill>
                  <a:srgbClr val="002060"/>
                </a:solidFill>
              </a:rPr>
              <a:t>Performanta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si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Validare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19A913-AD32-845D-6425-D8C982F32AB1}"/>
              </a:ext>
            </a:extLst>
          </p:cNvPr>
          <p:cNvSpPr txBox="1"/>
          <p:nvPr/>
        </p:nvSpPr>
        <p:spPr>
          <a:xfrm>
            <a:off x="385234" y="1280458"/>
            <a:ext cx="854286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METRICA                          		| TEST (2014-16)         		| BLIND (2017)          </a:t>
            </a:r>
          </a:p>
          <a:p>
            <a:r>
              <a:rPr lang="en-US" sz="1400" dirty="0"/>
              <a:t>-----------------------------------------------------------------------------------------------------------------------</a:t>
            </a:r>
          </a:p>
          <a:p>
            <a:r>
              <a:rPr lang="en-US" sz="1400" dirty="0"/>
              <a:t>Expert per-segment             	R2=0.8106 MAE=$11.99  		|  R2=0.3916 MAE=$18.22</a:t>
            </a:r>
          </a:p>
          <a:p>
            <a:r>
              <a:rPr lang="en-US" sz="1400" dirty="0"/>
              <a:t>Meta-model global             	R2=0.9543 MAE=$6.93  		|  R2=0.9801 MAE=$6.81</a:t>
            </a:r>
          </a:p>
          <a:p>
            <a:r>
              <a:rPr lang="en-US" sz="1400" dirty="0"/>
              <a:t>BLEND FINAL                    		</a:t>
            </a:r>
            <a:r>
              <a:rPr lang="en-US" sz="1400" b="1" dirty="0">
                <a:highlight>
                  <a:srgbClr val="00FF00"/>
                </a:highlight>
              </a:rPr>
              <a:t>R2=0.9275 MAE=$8.31  </a:t>
            </a:r>
            <a:r>
              <a:rPr lang="en-US" sz="1400" dirty="0"/>
              <a:t>		|  </a:t>
            </a:r>
            <a:r>
              <a:rPr lang="en-US" sz="1400" b="1" dirty="0">
                <a:highlight>
                  <a:srgbClr val="00FF00"/>
                </a:highlight>
              </a:rPr>
              <a:t>R2=0.8184 MAE=$11.79</a:t>
            </a:r>
          </a:p>
          <a:p>
            <a:r>
              <a:rPr lang="en-US" sz="1400" dirty="0"/>
              <a:t>✅ Gap R² (test - blind): 10.91%; </a:t>
            </a:r>
            <a:r>
              <a:rPr lang="en-US" sz="1400" dirty="0" err="1"/>
              <a:t>modelul</a:t>
            </a:r>
            <a:r>
              <a:rPr lang="en-US" sz="1400" dirty="0"/>
              <a:t> </a:t>
            </a:r>
            <a:r>
              <a:rPr lang="en-US" sz="1400" dirty="0" err="1"/>
              <a:t>este</a:t>
            </a:r>
            <a:r>
              <a:rPr lang="en-US" sz="1400" dirty="0"/>
              <a:t> </a:t>
            </a:r>
            <a:r>
              <a:rPr lang="en-US" sz="1400" dirty="0" err="1"/>
              <a:t>stabil</a:t>
            </a:r>
            <a:r>
              <a:rPr lang="en-US" sz="1400" dirty="0"/>
              <a:t>, nu </a:t>
            </a:r>
            <a:r>
              <a:rPr lang="en-US" sz="1400" dirty="0" err="1"/>
              <a:t>exista</a:t>
            </a:r>
            <a:r>
              <a:rPr lang="en-US" sz="1400" dirty="0"/>
              <a:t> overfitting!!</a:t>
            </a:r>
            <a:endParaRPr lang="en-US" sz="1400" b="1" dirty="0">
              <a:highlight>
                <a:srgbClr val="00FF00"/>
              </a:highlight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3DB776-E74C-6ACB-5D2F-5A692BB520FF}"/>
              </a:ext>
            </a:extLst>
          </p:cNvPr>
          <p:cNvSpPr txBox="1"/>
          <p:nvPr/>
        </p:nvSpPr>
        <p:spPr>
          <a:xfrm>
            <a:off x="385234" y="2740502"/>
            <a:ext cx="7725833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PERFORMANTA PE ANI (diagnostic temporal):</a:t>
            </a:r>
          </a:p>
          <a:p>
            <a:r>
              <a:rPr lang="en-US" dirty="0"/>
              <a:t> </a:t>
            </a:r>
            <a:r>
              <a:rPr lang="en-US" sz="1000" dirty="0"/>
              <a:t>2014 [train]  	</a:t>
            </a:r>
            <a:r>
              <a:rPr lang="en-US" sz="1000" b="1" dirty="0">
                <a:highlight>
                  <a:srgbClr val="00FF00"/>
                </a:highlight>
              </a:rPr>
              <a:t>R2= 0.8633 	</a:t>
            </a:r>
            <a:r>
              <a:rPr lang="en-US" sz="1000" dirty="0"/>
              <a:t>| </a:t>
            </a:r>
            <a:r>
              <a:rPr lang="en-US" sz="1000" b="1" dirty="0">
                <a:highlight>
                  <a:srgbClr val="00FF00"/>
                </a:highlight>
              </a:rPr>
              <a:t>MAE=   7.75$ 	</a:t>
            </a:r>
            <a:r>
              <a:rPr lang="en-US" sz="1000" dirty="0"/>
              <a:t>| </a:t>
            </a:r>
            <a:r>
              <a:rPr lang="en-US" sz="1000" dirty="0" err="1"/>
              <a:t>MedAE</a:t>
            </a:r>
            <a:r>
              <a:rPr lang="en-US" sz="1000" dirty="0"/>
              <a:t>=   0.49$ | Profit </a:t>
            </a:r>
            <a:r>
              <a:rPr lang="en-US" sz="1000" dirty="0" err="1"/>
              <a:t>mediu</a:t>
            </a:r>
            <a:r>
              <a:rPr lang="en-US" sz="1000" dirty="0"/>
              <a:t>=   27.00$</a:t>
            </a:r>
          </a:p>
          <a:p>
            <a:r>
              <a:rPr lang="en-US" sz="1000" dirty="0"/>
              <a:t>  2015 [train] 	</a:t>
            </a:r>
            <a:r>
              <a:rPr lang="en-US" sz="1000" b="1" dirty="0">
                <a:highlight>
                  <a:srgbClr val="00FF00"/>
                </a:highlight>
              </a:rPr>
              <a:t>R2= 0.9763  	</a:t>
            </a:r>
            <a:r>
              <a:rPr lang="en-US" sz="1000" dirty="0"/>
              <a:t>| </a:t>
            </a:r>
            <a:r>
              <a:rPr lang="en-US" sz="1000" b="1" dirty="0">
                <a:highlight>
                  <a:srgbClr val="00FF00"/>
                </a:highlight>
              </a:rPr>
              <a:t>MAE=   4.90$	</a:t>
            </a:r>
            <a:r>
              <a:rPr lang="en-US" sz="1000" dirty="0"/>
              <a:t>| </a:t>
            </a:r>
            <a:r>
              <a:rPr lang="en-US" sz="1000" dirty="0" err="1"/>
              <a:t>MedAE</a:t>
            </a:r>
            <a:r>
              <a:rPr lang="en-US" sz="1000" dirty="0"/>
              <a:t>=   0.50$ | Profit </a:t>
            </a:r>
            <a:r>
              <a:rPr lang="en-US" sz="1000" dirty="0" err="1"/>
              <a:t>mediu</a:t>
            </a:r>
            <a:r>
              <a:rPr lang="en-US" sz="1000" dirty="0"/>
              <a:t>=   31.83$</a:t>
            </a:r>
          </a:p>
          <a:p>
            <a:r>
              <a:rPr lang="en-US" sz="1000" dirty="0"/>
              <a:t>  2016 [train] 	</a:t>
            </a:r>
            <a:r>
              <a:rPr lang="en-US" sz="1000" b="1" dirty="0">
                <a:highlight>
                  <a:srgbClr val="00FF00"/>
                </a:highlight>
              </a:rPr>
              <a:t>R2= 0.8321  	</a:t>
            </a:r>
            <a:r>
              <a:rPr lang="en-US" sz="1000" dirty="0"/>
              <a:t>| </a:t>
            </a:r>
            <a:r>
              <a:rPr lang="en-US" sz="1000" b="1" dirty="0">
                <a:highlight>
                  <a:srgbClr val="00FF00"/>
                </a:highlight>
              </a:rPr>
              <a:t>MAE=   9.05$ 	</a:t>
            </a:r>
            <a:r>
              <a:rPr lang="en-US" sz="1000" dirty="0"/>
              <a:t>| </a:t>
            </a:r>
            <a:r>
              <a:rPr lang="en-US" sz="1000" dirty="0" err="1"/>
              <a:t>MedAE</a:t>
            </a:r>
            <a:r>
              <a:rPr lang="en-US" sz="1000" dirty="0"/>
              <a:t>=   0.45$ | Profit </a:t>
            </a:r>
            <a:r>
              <a:rPr lang="en-US" sz="1000" dirty="0" err="1"/>
              <a:t>mediu</a:t>
            </a:r>
            <a:r>
              <a:rPr lang="en-US" sz="1000" dirty="0"/>
              <a:t>=   34.34$</a:t>
            </a:r>
          </a:p>
          <a:p>
            <a:r>
              <a:rPr lang="en-US" sz="1000" dirty="0"/>
              <a:t>  2017 [blind] 	</a:t>
            </a:r>
            <a:r>
              <a:rPr lang="en-US" sz="1000" b="1" dirty="0">
                <a:highlight>
                  <a:srgbClr val="00FF00"/>
                </a:highlight>
              </a:rPr>
              <a:t>R2= 0.8184 	</a:t>
            </a:r>
            <a:r>
              <a:rPr lang="en-US" sz="1000" dirty="0"/>
              <a:t>| </a:t>
            </a:r>
            <a:r>
              <a:rPr lang="en-US" sz="1000" b="1" dirty="0">
                <a:highlight>
                  <a:srgbClr val="00FF00"/>
                </a:highlight>
              </a:rPr>
              <a:t>MAE=  11.79$ 	</a:t>
            </a:r>
            <a:r>
              <a:rPr lang="en-US" sz="1000" dirty="0"/>
              <a:t>| </a:t>
            </a:r>
            <a:r>
              <a:rPr lang="en-US" sz="1000" dirty="0" err="1"/>
              <a:t>MedAE</a:t>
            </a:r>
            <a:r>
              <a:rPr lang="en-US" sz="1000" dirty="0"/>
              <a:t>=   0.74$ | Profit </a:t>
            </a:r>
            <a:r>
              <a:rPr lang="en-US" sz="1000" dirty="0" err="1"/>
              <a:t>mediu</a:t>
            </a:r>
            <a:r>
              <a:rPr lang="en-US" sz="1000" dirty="0"/>
              <a:t>=   31.93$</a:t>
            </a:r>
          </a:p>
          <a:p>
            <a:endParaRPr lang="en-US" sz="12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173AE59-4FB7-FB1C-93CC-F29275649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234" y="3889651"/>
            <a:ext cx="7962899" cy="296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948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30453-D7A6-EC2A-A006-0492367EF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>
                <a:solidFill>
                  <a:srgbClr val="002060"/>
                </a:solidFill>
              </a:rPr>
              <a:t>Concluzii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si</a:t>
            </a:r>
            <a:r>
              <a:rPr lang="en-US" b="1" dirty="0">
                <a:solidFill>
                  <a:srgbClr val="002060"/>
                </a:solidFill>
              </a:rPr>
              <a:t> </a:t>
            </a:r>
            <a:r>
              <a:rPr lang="en-US" b="1" dirty="0" err="1">
                <a:solidFill>
                  <a:srgbClr val="002060"/>
                </a:solidFill>
              </a:rPr>
              <a:t>Implementare</a:t>
            </a:r>
            <a:r>
              <a:rPr lang="en-US" b="1" dirty="0">
                <a:solidFill>
                  <a:srgbClr val="002060"/>
                </a:solidFill>
              </a:rPr>
              <a:t> in Business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2E435E-34B9-5E5D-304B-E8BCAAE9E7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➡️ </a:t>
            </a:r>
            <a:r>
              <a:rPr lang="en-US" sz="1600" b="1" dirty="0" err="1"/>
              <a:t>Automatizare</a:t>
            </a:r>
            <a:r>
              <a:rPr lang="en-US" sz="1600" b="1" dirty="0"/>
              <a:t>:</a:t>
            </a:r>
            <a:r>
              <a:rPr lang="en-US" sz="1600" dirty="0"/>
              <a:t> 	</a:t>
            </a:r>
            <a:r>
              <a:rPr lang="en-US" sz="1600" dirty="0" err="1"/>
              <a:t>Modelul</a:t>
            </a:r>
            <a:r>
              <a:rPr lang="en-US" sz="1600" dirty="0"/>
              <a:t> </a:t>
            </a:r>
            <a:r>
              <a:rPr lang="en-US" sz="1600" dirty="0" err="1"/>
              <a:t>poate</a:t>
            </a:r>
            <a:r>
              <a:rPr lang="en-US" sz="1600" dirty="0"/>
              <a:t> fi </a:t>
            </a:r>
            <a:r>
              <a:rPr lang="en-US" sz="1600" dirty="0" err="1"/>
              <a:t>integrat</a:t>
            </a:r>
            <a:r>
              <a:rPr lang="en-US" sz="1600" dirty="0"/>
              <a:t> </a:t>
            </a:r>
            <a:r>
              <a:rPr lang="en-US" sz="1600" dirty="0" err="1"/>
              <a:t>intr</a:t>
            </a:r>
            <a:r>
              <a:rPr lang="en-US" sz="1600" dirty="0"/>
              <a:t>-un </a:t>
            </a:r>
            <a:r>
              <a:rPr lang="en-US" sz="1600" b="1" dirty="0" err="1"/>
              <a:t>sistem</a:t>
            </a:r>
            <a:r>
              <a:rPr lang="en-US" sz="1600" b="1" dirty="0"/>
              <a:t> de </a:t>
            </a:r>
            <a:r>
              <a:rPr lang="en-US" sz="1600" b="1" dirty="0" err="1"/>
              <a:t>aprobare</a:t>
            </a:r>
            <a:r>
              <a:rPr lang="en-US" sz="1600" b="1" dirty="0"/>
              <a:t> a </a:t>
            </a:r>
            <a:r>
              <a:rPr lang="en-US" sz="1600" b="1" dirty="0" err="1"/>
              <a:t>discounturilor</a:t>
            </a:r>
            <a:r>
              <a:rPr lang="en-US" sz="16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➡️ </a:t>
            </a:r>
            <a:r>
              <a:rPr lang="en-US" sz="1600" b="1" dirty="0" err="1"/>
              <a:t>Predictibilitate</a:t>
            </a:r>
            <a:r>
              <a:rPr lang="en-US" sz="1600" b="1" dirty="0"/>
              <a:t>:</a:t>
            </a:r>
            <a:r>
              <a:rPr lang="en-US" sz="1600" dirty="0"/>
              <a:t> 	</a:t>
            </a:r>
            <a:r>
              <a:rPr lang="en-US" sz="1600" dirty="0" err="1"/>
              <a:t>Identificarea</a:t>
            </a:r>
            <a:r>
              <a:rPr lang="en-US" sz="1600" dirty="0"/>
              <a:t> </a:t>
            </a:r>
            <a:r>
              <a:rPr lang="en-US" sz="1600" dirty="0" err="1"/>
              <a:t>timpurie</a:t>
            </a:r>
            <a:r>
              <a:rPr lang="en-US" sz="1600" dirty="0"/>
              <a:t> a </a:t>
            </a:r>
            <a:r>
              <a:rPr lang="en-US" sz="1600" dirty="0" err="1"/>
              <a:t>segmentelor</a:t>
            </a:r>
            <a:r>
              <a:rPr lang="en-US" sz="1600" dirty="0"/>
              <a:t> de </a:t>
            </a:r>
            <a:r>
              <a:rPr lang="en-US" sz="1600" b="1" dirty="0" err="1"/>
              <a:t>clienti</a:t>
            </a:r>
            <a:r>
              <a:rPr lang="en-US" sz="1600" b="1" dirty="0"/>
              <a:t> care </a:t>
            </a:r>
            <a:r>
              <a:rPr lang="en-US" sz="1600" b="1" dirty="0" err="1"/>
              <a:t>erodeaza</a:t>
            </a:r>
            <a:r>
              <a:rPr lang="en-US" sz="1600" b="1" dirty="0"/>
              <a:t> </a:t>
            </a:r>
            <a:r>
              <a:rPr lang="en-US" sz="1600" b="1" dirty="0" err="1"/>
              <a:t>profitul</a:t>
            </a:r>
            <a:r>
              <a:rPr lang="en-US" sz="1600" dirty="0"/>
              <a:t>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1600" dirty="0"/>
              <a:t>➡️ </a:t>
            </a:r>
            <a:r>
              <a:rPr lang="en-US" sz="1600" b="1" dirty="0" err="1"/>
              <a:t>Scalabilitate</a:t>
            </a:r>
            <a:r>
              <a:rPr lang="en-US" sz="1600" b="1" dirty="0"/>
              <a:t>:</a:t>
            </a:r>
            <a:r>
              <a:rPr lang="en-US" sz="1600" dirty="0"/>
              <a:t> 	Logica </a:t>
            </a:r>
            <a:r>
              <a:rPr lang="en-US" sz="1600" dirty="0" err="1"/>
              <a:t>poate</a:t>
            </a:r>
            <a:r>
              <a:rPr lang="en-US" sz="1600" dirty="0"/>
              <a:t> fi </a:t>
            </a:r>
            <a:r>
              <a:rPr lang="en-US" sz="1600" dirty="0" err="1"/>
              <a:t>extinsa</a:t>
            </a:r>
            <a:r>
              <a:rPr lang="en-US" sz="1600" dirty="0"/>
              <a:t> la </a:t>
            </a:r>
            <a:r>
              <a:rPr lang="en-US" sz="1600" b="1" dirty="0" err="1"/>
              <a:t>noi</a:t>
            </a:r>
            <a:r>
              <a:rPr lang="en-US" sz="1600" b="1" dirty="0"/>
              <a:t> </a:t>
            </a:r>
            <a:r>
              <a:rPr lang="en-US" sz="1600" b="1" dirty="0" err="1"/>
              <a:t>regiuni</a:t>
            </a:r>
            <a:r>
              <a:rPr lang="en-US" sz="1600" b="1" dirty="0"/>
              <a:t> </a:t>
            </a:r>
            <a:r>
              <a:rPr lang="en-US" sz="1600" b="1" dirty="0" err="1"/>
              <a:t>sau</a:t>
            </a:r>
            <a:r>
              <a:rPr lang="en-US" sz="1600" b="1" dirty="0"/>
              <a:t> </a:t>
            </a:r>
            <a:r>
              <a:rPr lang="en-US" sz="1600" b="1" dirty="0" err="1"/>
              <a:t>categorii</a:t>
            </a:r>
            <a:r>
              <a:rPr lang="en-US" sz="1600" b="1" dirty="0"/>
              <a:t> de </a:t>
            </a:r>
            <a:r>
              <a:rPr lang="en-US" sz="1600" b="1" dirty="0" err="1"/>
              <a:t>produse</a:t>
            </a:r>
            <a:r>
              <a:rPr lang="en-US" sz="1600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1926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413</TotalTime>
  <Words>926</Words>
  <Application>Microsoft Office PowerPoint</Application>
  <PresentationFormat>On-screen Show (4:3)</PresentationFormat>
  <Paragraphs>105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Obiectivele Proiectului</vt:lpstr>
      <vt:lpstr>Datasetul utilizat</vt:lpstr>
      <vt:lpstr>Pre-procesarea datelor</vt:lpstr>
      <vt:lpstr>EDA -Exporatory Data Analysis (1)</vt:lpstr>
      <vt:lpstr>EDA -Exporatory Data Analysis (2)</vt:lpstr>
      <vt:lpstr>PowerPoint Presentation</vt:lpstr>
      <vt:lpstr>Arhitectura Datelor si Pipeline</vt:lpstr>
      <vt:lpstr>Insights: Factorii Determinanti</vt:lpstr>
      <vt:lpstr>Lookups de Risc: Memorie model</vt:lpstr>
      <vt:lpstr>Model</vt:lpstr>
      <vt:lpstr>Rezulte: Performanta si Validare</vt:lpstr>
      <vt:lpstr>Concluzii si Implementare in Business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dan axente</cp:lastModifiedBy>
  <cp:revision>12</cp:revision>
  <dcterms:created xsi:type="dcterms:W3CDTF">2013-01-27T09:14:16Z</dcterms:created>
  <dcterms:modified xsi:type="dcterms:W3CDTF">2026-03-19T19:06:51Z</dcterms:modified>
  <cp:category/>
</cp:coreProperties>
</file>